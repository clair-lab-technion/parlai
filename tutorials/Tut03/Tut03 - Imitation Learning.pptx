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9" r:id="rId5"/>
    <p:sldId id="258" r:id="rId6"/>
    <p:sldId id="273" r:id="rId7"/>
    <p:sldId id="261" r:id="rId8"/>
    <p:sldId id="260" r:id="rId9"/>
    <p:sldId id="266" r:id="rId10"/>
    <p:sldId id="264" r:id="rId11"/>
    <p:sldId id="267" r:id="rId12"/>
    <p:sldId id="263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03"/>
    <p:restoredTop sz="94830"/>
  </p:normalViewPr>
  <p:slideViewPr>
    <p:cSldViewPr snapToGrid="0">
      <p:cViewPr varScale="1">
        <p:scale>
          <a:sx n="147" d="100"/>
          <a:sy n="147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5591-DA6D-A816-DC77-4AF32E814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7D9AE-0ECE-63B2-873B-5E13E3B9C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6F44-BBC1-6292-0D43-01CBF96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DFF0F-966F-A6CE-38B1-A4140F41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C17E1-2123-36A0-474A-3C9425D0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765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7D9A-BF29-EA9D-6DB3-F28D02C54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1A00-3F0A-CA8D-3143-BF9F58C70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FA00E-F185-BFB9-97A2-7999F752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CF31-FD6F-65AE-4C61-FDD8E614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B7003-F203-968E-8A0B-616027D8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023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16704-AF06-0A32-6834-B3C3B4E7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ADE05-49BE-ED67-D0B6-4B7D6D4F2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BC712-C6DA-97B2-4C22-6A5E3944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F1E4-1521-148F-FEED-8FA2920D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7D25-F235-B673-896E-42B63EF0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481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6524-4A05-6955-A293-DA190AF4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6272-0449-B07F-6E8E-892EC2FAF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CB0A6-FD4F-9C3D-56DC-9F410AFDB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C223A-091D-3C59-805D-DFC02842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552F8-0A43-64E8-7CB6-B7DA4DB6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10AF4-9E4B-EEA2-702B-A7A8CB3C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12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9BB6-8A84-99E9-E197-91E74D1E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0B324-3EDB-737D-8EB3-42DC9272E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FDEF3-9261-37F1-D44B-0766E40C2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4292B-B05C-D7AC-01B9-C80816E13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F7882-E5C2-4AC0-BCCD-822418099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CD5B1-B6F0-21A7-B95F-CA606AEA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A24D9-0AC9-7153-B080-56D34FEB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00186C-3664-0975-5038-35414DBE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782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8571-905B-B5ED-1536-1ADEABB3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F14C4-3795-593D-C7C9-6B15E92C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F10B4-785C-1452-5E93-01A3685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9BF5D-53EF-101B-870C-9D773D11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549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205F5-9CCD-1B00-B95D-16EEF0A3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ED274-D712-F0B5-6A4C-671D4AD3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6FD0A-5B59-275F-5B6F-BDDB4CF7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951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92C9-C693-0C2B-7442-2A818ED6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3364-5EFD-ABDF-7C2F-F7FC5611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0B6FB-6738-CA65-9241-E5D169B31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1FC50-E1B9-A839-FBEE-1C8FB968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84FE5-AC8A-5159-2D8F-F1BA46D7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82E47-0F92-BC58-1F15-4DCED33A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579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115E-699B-6C17-B553-C80CAF96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82359-A9ED-9E84-A966-D8EB9EB85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9D21-B2B5-6FE9-57B2-9DD0B54E8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45E63-CE04-9459-BA82-7CDE572CB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A10E2-B49F-A7A8-A6EF-52FCCDE0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CC4FE-3C1F-28F8-9C7D-FDAE5DBE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566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CD3F-D855-BF0E-DAE0-A1572730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42380-765C-5FA9-3A02-56AD86E75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913E-D435-6D55-D9EE-DD1E4D2E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283B6-A740-EDDB-2F4E-1906D431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BFE3A-A4DF-9B2E-E37E-9A36B775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651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44251-8EB6-4C1F-F540-18A04E2A2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3E207-5253-63A5-DEA8-C3C82C5D9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FD08D-6015-484B-5437-00EB7A43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930C-7C32-6B78-C1B9-A4BEE7D3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4E99-F929-C67B-0F09-9FD42B17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703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0C4A3-1438-E0FD-AAA4-5B928888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C9D74-3A28-C086-BE29-3A471E3AA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79030-B0FC-EEB4-FF40-88668219A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23C2C-AF8F-DE45-9875-E054503460EA}" type="datetimeFigureOut">
              <a:rPr lang="en-IL" smtClean="0"/>
              <a:t>20/05/2026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F6B1A-BB81-6F89-4EE6-3E0D50FDC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E6362-CCF8-93CB-FA10-E76159AD7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DA27B-5A21-5F48-9A36-68346E4B9B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804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a5wkzPa4fO4?feature=oembed" TargetMode="External"/><Relationship Id="rId7" Type="http://schemas.openxmlformats.org/officeDocument/2006/relationships/image" Target="../media/image5.jpeg"/><Relationship Id="rId2" Type="http://schemas.openxmlformats.org/officeDocument/2006/relationships/video" Target="https://www.youtube.com/embed/06uB13C5pxw?feature=oembed" TargetMode="External"/><Relationship Id="rId1" Type="http://schemas.openxmlformats.org/officeDocument/2006/relationships/video" Target="https://www.youtube.com/embed/kGc8jOy5_zY?feature=oembed" TargetMode="Externa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upload.wikimedia.org/wikipedia/commons/1/1f/Makak_neonatal_imitation.png?164849953260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vla.github.io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Zn8yMaepzVk?start=17&amp;feature=oembed" TargetMode="External"/><Relationship Id="rId1" Type="http://schemas.openxmlformats.org/officeDocument/2006/relationships/video" Target="https://www.youtube.com/embed/w-CGSQAO5-Q?start=42&amp;feature=oembed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hUvQiKec2U?feature=oembe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mRdt3zGgpU?start=104&amp;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leeyngdo.github.io/assets/images/RL/imitation-learning/multi_modal.pn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BC19-45B6-3EF2-7B2F-9A52913C2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L"/>
              <a:t>Tutorial 03 </a:t>
            </a:r>
            <a:r>
              <a:rPr lang="en-IL" dirty="0"/>
              <a:t>– Imitaiton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13487-F6AA-BE4B-46E5-5D9551B08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L" dirty="0"/>
              <a:t>02360765 PARLAI Spring 2026</a:t>
            </a:r>
          </a:p>
          <a:p>
            <a:endParaRPr lang="en-IL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39FBF8E-F8BB-F906-D6FB-6B3CF263F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881" y="4117577"/>
            <a:ext cx="3236119" cy="3236119"/>
          </a:xfrm>
          <a:prstGeom prst="rect">
            <a:avLst/>
          </a:prstGeom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7CCD9B0-014E-E08D-E8BE-81FCEEB42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8" y="6109680"/>
            <a:ext cx="5833457" cy="6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53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6151-9B0D-F1C4-0805-EAAACDD0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Recommended Viewing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5DDB-9353-5F4A-B77F-DDDF47CB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This tutorial only scratches the surface. Watch these for more.</a:t>
            </a:r>
          </a:p>
        </p:txBody>
      </p:sp>
      <p:pic>
        <p:nvPicPr>
          <p:cNvPr id="4" name="Online Media 3" descr="CS 182: Lecture 14: Part 1: Imitation Learning">
            <a:hlinkClick r:id="" action="ppaction://media"/>
            <a:extLst>
              <a:ext uri="{FF2B5EF4-FFF2-40B4-BE49-F238E27FC236}">
                <a16:creationId xmlns:a16="http://schemas.microsoft.com/office/drawing/2014/main" id="{2BCECE0A-40C2-7346-2E73-009E59DB77D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38200" y="3429000"/>
            <a:ext cx="3092634" cy="1747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4F887E-575F-DCDA-1702-1C932F3E77EE}"/>
              </a:ext>
            </a:extLst>
          </p:cNvPr>
          <p:cNvSpPr txBox="1"/>
          <p:nvPr/>
        </p:nvSpPr>
        <p:spPr>
          <a:xfrm>
            <a:off x="2006721" y="3109397"/>
            <a:ext cx="755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Part 1</a:t>
            </a:r>
          </a:p>
        </p:txBody>
      </p:sp>
      <p:pic>
        <p:nvPicPr>
          <p:cNvPr id="6" name="Online Media 5" descr="CS 182: Lecture 14: Part 2: Imitation Learning">
            <a:hlinkClick r:id="" action="ppaction://media"/>
            <a:extLst>
              <a:ext uri="{FF2B5EF4-FFF2-40B4-BE49-F238E27FC236}">
                <a16:creationId xmlns:a16="http://schemas.microsoft.com/office/drawing/2014/main" id="{36345760-F99B-C7C6-6F09-92F9A754C77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4403994" y="3429000"/>
            <a:ext cx="3092634" cy="1747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741D60-F01E-BFA0-42EA-3DFFFC93D83B}"/>
              </a:ext>
            </a:extLst>
          </p:cNvPr>
          <p:cNvSpPr txBox="1"/>
          <p:nvPr/>
        </p:nvSpPr>
        <p:spPr>
          <a:xfrm>
            <a:off x="5572515" y="3109397"/>
            <a:ext cx="755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Part 2</a:t>
            </a:r>
          </a:p>
        </p:txBody>
      </p:sp>
      <p:pic>
        <p:nvPicPr>
          <p:cNvPr id="8" name="Online Media 7" descr="CS 182: Lecture 14: Part 3: Imitation Learning">
            <a:hlinkClick r:id="" action="ppaction://media"/>
            <a:extLst>
              <a:ext uri="{FF2B5EF4-FFF2-40B4-BE49-F238E27FC236}">
                <a16:creationId xmlns:a16="http://schemas.microsoft.com/office/drawing/2014/main" id="{055C0761-D9C1-0521-AA84-065EF7952A37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7969787" y="3429000"/>
            <a:ext cx="3092634" cy="1747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273C21-0727-7AAA-ADC7-35E6107BE68D}"/>
              </a:ext>
            </a:extLst>
          </p:cNvPr>
          <p:cNvSpPr txBox="1"/>
          <p:nvPr/>
        </p:nvSpPr>
        <p:spPr>
          <a:xfrm>
            <a:off x="9138308" y="3109397"/>
            <a:ext cx="755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264278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ECBF-D166-8502-C29E-B810A203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Recap: MDP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C86791-853C-EECD-BBFB-DE94333D2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L" dirty="0"/>
                  <a:t>A Markov Decision Process (MDP) is defined by a tuple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𝒮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𝒜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𝒫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ℛ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L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IL" dirty="0">
                    <a:effectLst/>
                  </a:rPr>
                  <a:t> 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IL" dirty="0"/>
                  <a:t> – state space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IL" dirty="0"/>
                  <a:t> – action space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IL" dirty="0"/>
                  <a:t> – transition function;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IL" dirty="0"/>
              </a:p>
              <a:p>
                <a:pPr lvl="1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IL" dirty="0"/>
                  <a:t> – reward function;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IL" dirty="0"/>
              </a:p>
              <a:p>
                <a:pPr lvl="1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L" dirty="0"/>
                  <a:t> – dicount factor used to favor immediate rewards over future rewards</a:t>
                </a:r>
              </a:p>
              <a:p>
                <a:r>
                  <a:rPr lang="en-IL" dirty="0"/>
                  <a:t>A policy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IL" dirty="0">
                    <a:effectLst/>
                  </a:rPr>
                  <a:t> (can be stochastic) dictates actions</a:t>
                </a:r>
              </a:p>
              <a:p>
                <a:r>
                  <a:rPr lang="en-IL" dirty="0"/>
                  <a:t>Can be expanded to partial observability (POMDP) with obseravtions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L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IL" dirty="0">
                    <a:effectLst/>
                  </a:rPr>
                  <a:t>, sensor funciton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𝒪</m:t>
                    </m:r>
                  </m:oMath>
                </a14:m>
                <a:r>
                  <a:rPr lang="en-IL" dirty="0">
                    <a:effectLst/>
                  </a:rPr>
                  <a:t>, and belief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IL" dirty="0">
                    <a:effectLst/>
                  </a:rPr>
                  <a:t>.</a:t>
                </a:r>
              </a:p>
              <a:p>
                <a:pPr lvl="1"/>
                <a:r>
                  <a:rPr lang="en-IL" dirty="0">
                    <a:effectLst/>
                  </a:rPr>
                  <a:t>Policies are conditioned on observations instead of states.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C86791-853C-EECD-BBFB-DE94333D2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r="-120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54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FCCB-52E8-64AE-FDA8-6AB40F68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The Decision-Making Problem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3DEBE8-4D68-F542-1DE4-0368A86607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284" y="1825625"/>
            <a:ext cx="86914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45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5EA4-A295-3D0D-2265-9CEAA391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BCB3-8B2B-5B28-2957-890A12A7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What is Imitation learning (IL)?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B11E-1E11-DDD1-3DBC-33B785E61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>
                <a:effectLst/>
              </a:rPr>
              <a:t>In reinforcement learning (RL), the agent acts in the environment, receives observations and rewards, and learns from these experiences</a:t>
            </a:r>
            <a:r>
              <a:rPr lang="en-IL" dirty="0"/>
              <a:t>.</a:t>
            </a:r>
          </a:p>
          <a:p>
            <a:r>
              <a:rPr lang="en-IL" dirty="0">
                <a:effectLst/>
              </a:rPr>
              <a:t>In Imitation learning (IL), the agent learns from expert demonstrations.</a:t>
            </a:r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03E27708-0672-BD95-4B2D-162060A4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005" y="4099798"/>
            <a:ext cx="4737463" cy="181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A256D-8874-D235-AB83-CF23C282F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860" y="4099798"/>
            <a:ext cx="4001589" cy="1966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14C861-5246-CF49-408C-F70367005562}"/>
              </a:ext>
            </a:extLst>
          </p:cNvPr>
          <p:cNvSpPr txBox="1"/>
          <p:nvPr/>
        </p:nvSpPr>
        <p:spPr>
          <a:xfrm>
            <a:off x="2860882" y="363196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b="1" dirty="0"/>
              <a:t>RL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514F2-ADAB-BDAE-00F7-9F96D848612B}"/>
              </a:ext>
            </a:extLst>
          </p:cNvPr>
          <p:cNvSpPr txBox="1"/>
          <p:nvPr/>
        </p:nvSpPr>
        <p:spPr>
          <a:xfrm>
            <a:off x="8875039" y="3631962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b="1" dirty="0"/>
              <a:t>IL</a:t>
            </a:r>
          </a:p>
        </p:txBody>
      </p:sp>
    </p:spTree>
    <p:extLst>
      <p:ext uri="{BB962C8B-B14F-4D97-AF65-F5344CB8AC3E}">
        <p14:creationId xmlns:p14="http://schemas.microsoft.com/office/powerpoint/2010/main" val="232136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6461-5B3B-9CF9-FAD8-1FF37B3A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Imitation Learning in foundation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333D-57D7-5A8A-64B5-CF326B752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6222"/>
            <a:ext cx="6529252" cy="4351338"/>
          </a:xfrm>
        </p:spPr>
        <p:txBody>
          <a:bodyPr>
            <a:normAutofit/>
          </a:bodyPr>
          <a:lstStyle/>
          <a:p>
            <a:r>
              <a:rPr lang="en-IL" dirty="0"/>
              <a:t>IL is a main component in foundation models, including the popular Large Language Models (LLMs)</a:t>
            </a:r>
          </a:p>
          <a:p>
            <a:pPr lvl="1"/>
            <a:r>
              <a:rPr lang="en-US" dirty="0"/>
              <a:t>N</a:t>
            </a:r>
            <a:r>
              <a:rPr lang="en-IL" dirty="0"/>
              <a:t>ext token prediciton == imitation learning</a:t>
            </a:r>
          </a:p>
          <a:p>
            <a:r>
              <a:rPr lang="en-IL" dirty="0"/>
              <a:t>In decision-making, Vision Language Action Models (VLAs) are the new SOTA</a:t>
            </a:r>
          </a:p>
          <a:p>
            <a:pPr lvl="1"/>
            <a:r>
              <a:rPr lang="en-US" dirty="0"/>
              <a:t>P</a:t>
            </a:r>
            <a:r>
              <a:rPr lang="en-IL" dirty="0"/>
              <a:t>redict next robot action from vast “robot data”.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A8A8A-E353-9155-2033-82B9B8382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618" y="1207317"/>
            <a:ext cx="5873326" cy="3120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BD5DCB-0980-F755-60B1-19212AD7C478}"/>
              </a:ext>
            </a:extLst>
          </p:cNvPr>
          <p:cNvSpPr txBox="1"/>
          <p:nvPr/>
        </p:nvSpPr>
        <p:spPr>
          <a:xfrm>
            <a:off x="7871524" y="4168941"/>
            <a:ext cx="2763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linkClick r:id="rId3"/>
              </a:rPr>
              <a:t>OpenVLA (Kim et al. 2024)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16BA37-AA2E-1574-090F-B825E22A2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631" y="4543807"/>
            <a:ext cx="5873327" cy="221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2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552B-E73C-07FD-170F-2B1D2937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Modern(ish) Imitation Learning</a:t>
            </a:r>
          </a:p>
        </p:txBody>
      </p:sp>
      <p:pic>
        <p:nvPicPr>
          <p:cNvPr id="4" name="Online Media 3" descr="Teaching Robots New Behaviors">
            <a:hlinkClick r:id="" action="ppaction://media"/>
            <a:extLst>
              <a:ext uri="{FF2B5EF4-FFF2-40B4-BE49-F238E27FC236}">
                <a16:creationId xmlns:a16="http://schemas.microsoft.com/office/drawing/2014/main" id="{FB596919-7643-113F-4033-60B3E9C713C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07457" y="2574562"/>
            <a:ext cx="5353707" cy="3025049"/>
          </a:xfrm>
          <a:prstGeom prst="rect">
            <a:avLst/>
          </a:prstGeom>
        </p:spPr>
      </p:pic>
      <p:pic>
        <p:nvPicPr>
          <p:cNvPr id="3" name="Online Media 2" descr="π0.5: a VLA with Open-World Generalization">
            <a:hlinkClick r:id="" action="ppaction://media"/>
            <a:extLst>
              <a:ext uri="{FF2B5EF4-FFF2-40B4-BE49-F238E27FC236}">
                <a16:creationId xmlns:a16="http://schemas.microsoft.com/office/drawing/2014/main" id="{EC87AC33-1EB5-88D8-BCFB-AA064455F09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130836" y="2574562"/>
            <a:ext cx="5354069" cy="302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4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951D-16EF-6041-3933-ADA9F41E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Behavior Cloning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8DE97-66BF-EF4F-2394-517A1BDA1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00" y="1886744"/>
            <a:ext cx="9271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3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ABCE-856E-A55A-30E3-8B20292A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Multi-task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75FEBE-95B1-614D-29AD-988212DE3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063" y="1825625"/>
            <a:ext cx="10327874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D2B16D-A4D8-BBE2-7E27-CA17DC505DE2}"/>
                  </a:ext>
                </a:extLst>
              </p:cNvPr>
              <p:cNvSpPr txBox="1"/>
              <p:nvPr/>
            </p:nvSpPr>
            <p:spPr>
              <a:xfrm>
                <a:off x="10947736" y="4362995"/>
                <a:ext cx="312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D2B16D-A4D8-BBE2-7E27-CA17DC505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736" y="4362995"/>
                <a:ext cx="3122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08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77EE-A94A-1EB5-7B87-6E858A9D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Distributional Shift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A3FA04-60B9-F561-4007-194486A56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569" y="1825625"/>
            <a:ext cx="102208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81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4631-A56C-099D-6CCB-0830D2D9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DAgger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B929BE-6B9B-8FDB-7F4D-587644FC9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328" y="1825625"/>
            <a:ext cx="104193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1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35E3-803E-AEF0-6C31-451D179B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Does it work?</a:t>
            </a:r>
          </a:p>
        </p:txBody>
      </p:sp>
      <p:pic>
        <p:nvPicPr>
          <p:cNvPr id="4" name="Online Media 3" descr="NVIDIA Autonomous Car">
            <a:hlinkClick r:id="" action="ppaction://media"/>
            <a:extLst>
              <a:ext uri="{FF2B5EF4-FFF2-40B4-BE49-F238E27FC236}">
                <a16:creationId xmlns:a16="http://schemas.microsoft.com/office/drawing/2014/main" id="{B8120080-8A72-681D-2AB2-1222F3BA113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DCA2-D1A3-B4DC-CF4F-0296FCAB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Data Augmentation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D34803-493B-BD91-6695-54C68EE16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115" y="1825625"/>
            <a:ext cx="8491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4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7B74-8E5E-1C9F-5D2B-E2AF8587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Does it work?</a:t>
            </a:r>
          </a:p>
        </p:txBody>
      </p:sp>
      <p:pic>
        <p:nvPicPr>
          <p:cNvPr id="4" name="Online Media 3" descr="Quadcopter Navigation in the Forest using Deep Neural Networks">
            <a:hlinkClick r:id="" action="ppaction://media"/>
            <a:extLst>
              <a:ext uri="{FF2B5EF4-FFF2-40B4-BE49-F238E27FC236}">
                <a16:creationId xmlns:a16="http://schemas.microsoft.com/office/drawing/2014/main" id="{75A1525F-5706-3C40-1BE5-796EA2234BE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5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3182-51B4-43AA-06AC-B9198BB9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Multimodel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9E9B8-F884-5A83-D9D6-0A6461F3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2400" cy="4351338"/>
          </a:xfrm>
        </p:spPr>
        <p:txBody>
          <a:bodyPr/>
          <a:lstStyle/>
          <a:p>
            <a:r>
              <a:rPr lang="en-IL" dirty="0"/>
              <a:t>More than one correct behavior in a given state.</a:t>
            </a:r>
          </a:p>
          <a:p>
            <a:r>
              <a:rPr lang="en-IL" dirty="0"/>
              <a:t>Complex action distributions, especially in continuous action spaces.</a:t>
            </a:r>
          </a:p>
          <a:p>
            <a:r>
              <a:rPr lang="en-IL" dirty="0"/>
              <a:t>Solutions:</a:t>
            </a:r>
          </a:p>
          <a:p>
            <a:pPr lvl="1"/>
            <a:r>
              <a:rPr lang="en-IL" dirty="0"/>
              <a:t>Mixture of Gausians</a:t>
            </a:r>
          </a:p>
          <a:p>
            <a:pPr lvl="1"/>
            <a:r>
              <a:rPr lang="en-IL" dirty="0"/>
              <a:t>Latent variable models</a:t>
            </a:r>
          </a:p>
          <a:p>
            <a:pPr lvl="1"/>
            <a:r>
              <a:rPr lang="en-IL" dirty="0"/>
              <a:t>Diffusion models</a:t>
            </a:r>
          </a:p>
        </p:txBody>
      </p:sp>
      <p:pic>
        <p:nvPicPr>
          <p:cNvPr id="3078" name="Picture 6" descr="Multimodal Behavior">
            <a:hlinkClick r:id="rId2"/>
            <a:extLst>
              <a:ext uri="{FF2B5EF4-FFF2-40B4-BE49-F238E27FC236}">
                <a16:creationId xmlns:a16="http://schemas.microsoft.com/office/drawing/2014/main" id="{A324D1ED-D02B-CFD6-D4DA-8314B5E00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00" y="1825625"/>
            <a:ext cx="4851400" cy="427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61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1501-5944-0FB5-3FDC-D8B9BF76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History-dependent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0A349-D8B6-0E5B-A2DB-A1C723059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IL" dirty="0"/>
              <a:t>When the process with which the policy interacts is non-Markovian, expert actions may depend on the history of observations, not just the current state.</a:t>
            </a:r>
          </a:p>
          <a:p>
            <a:pPr lvl="1" fontAlgn="base"/>
            <a:r>
              <a:rPr lang="en-IL" dirty="0"/>
              <a:t>In POMDP, this is often the case.</a:t>
            </a:r>
          </a:p>
          <a:p>
            <a:pPr fontAlgn="base"/>
            <a:r>
              <a:rPr lang="en-IL" b="1" dirty="0"/>
              <a:t>Temporal Dependencies:</a:t>
            </a:r>
            <a:r>
              <a:rPr lang="en-IL" dirty="0"/>
              <a:t> Recognizing and incorporating temporal dependencies is essential for tasks with non-Markovian behavior.</a:t>
            </a:r>
          </a:p>
          <a:p>
            <a:pPr fontAlgn="base"/>
            <a:r>
              <a:rPr lang="en-IL" b="1" dirty="0"/>
              <a:t>Sequence Models:</a:t>
            </a:r>
            <a:r>
              <a:rPr lang="en-IL" dirty="0"/>
              <a:t> Using models like LSTMs or Transformers can help capture these dependencies.</a:t>
            </a:r>
          </a:p>
          <a:p>
            <a:pPr fontAlgn="base"/>
            <a:r>
              <a:rPr lang="en-IL" b="1" dirty="0"/>
              <a:t>Causal Relationships:</a:t>
            </a:r>
            <a:r>
              <a:rPr lang="en-IL" dirty="0"/>
              <a:t> Avoiding causal confusion by ensuring the policy learns true causal relationships is critical.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97600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FCE0-56EC-5B2C-311A-B9CC1045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Limitations of 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EBD9E-459C-CA8F-F7F5-B02E8F76A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Data must be given; unavoidable bottleneck.</a:t>
            </a:r>
          </a:p>
          <a:p>
            <a:pPr lvl="1"/>
            <a:r>
              <a:rPr lang="en-IL" dirty="0"/>
              <a:t>In many cases, data is from human behavior; slow to collect</a:t>
            </a:r>
          </a:p>
          <a:p>
            <a:pPr lvl="1"/>
            <a:r>
              <a:rPr lang="en-IL" dirty="0"/>
              <a:t>Deep learning works best when data is plentiful</a:t>
            </a:r>
          </a:p>
          <a:p>
            <a:r>
              <a:rPr lang="en-IL" dirty="0"/>
              <a:t>Humans are not good at providing actions to agents.</a:t>
            </a:r>
          </a:p>
          <a:p>
            <a:pPr lvl="1"/>
            <a:r>
              <a:rPr lang="en-IL" dirty="0"/>
              <a:t>Requires specialized interfaces, e.g., remote control.</a:t>
            </a:r>
          </a:p>
          <a:p>
            <a:r>
              <a:rPr lang="en-IL" dirty="0"/>
              <a:t>IL policies are limited by the capabilities of the expert policy.</a:t>
            </a:r>
          </a:p>
          <a:p>
            <a:pPr lvl="1"/>
            <a:r>
              <a:rPr lang="en-IL" dirty="0"/>
              <a:t>Are there better behaviors we never thought about?</a:t>
            </a:r>
          </a:p>
          <a:p>
            <a:r>
              <a:rPr lang="en-IL" dirty="0"/>
              <a:t>IL policies are static.</a:t>
            </a:r>
          </a:p>
          <a:p>
            <a:pPr lvl="1"/>
            <a:r>
              <a:rPr lang="en-IL" dirty="0"/>
              <a:t>Can we create policies that continually learn and improve?</a:t>
            </a:r>
          </a:p>
        </p:txBody>
      </p:sp>
    </p:spTree>
    <p:extLst>
      <p:ext uri="{BB962C8B-B14F-4D97-AF65-F5344CB8AC3E}">
        <p14:creationId xmlns:p14="http://schemas.microsoft.com/office/powerpoint/2010/main" val="208399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472</Words>
  <Application>Microsoft Macintosh PowerPoint</Application>
  <PresentationFormat>Widescreen</PresentationFormat>
  <Paragraphs>61</Paragraphs>
  <Slides>17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Tutorial 03 – Imitaiton Learning</vt:lpstr>
      <vt:lpstr>Recommended Viewing</vt:lpstr>
      <vt:lpstr>Recap: MDP</vt:lpstr>
      <vt:lpstr>The Decision-Making Problem</vt:lpstr>
      <vt:lpstr>What is Imitation learning (IL)?</vt:lpstr>
      <vt:lpstr>Imitation Learning in foundation models</vt:lpstr>
      <vt:lpstr>Modern(ish) Imitation Learning</vt:lpstr>
      <vt:lpstr>Behavior Cloning</vt:lpstr>
      <vt:lpstr>Multi-task Learning</vt:lpstr>
      <vt:lpstr>Distributional Shift</vt:lpstr>
      <vt:lpstr>DAgger</vt:lpstr>
      <vt:lpstr>Does it work?</vt:lpstr>
      <vt:lpstr>Data Augmentation</vt:lpstr>
      <vt:lpstr>Does it work?</vt:lpstr>
      <vt:lpstr>Multimodel Behavior</vt:lpstr>
      <vt:lpstr>History-dependent policies</vt:lpstr>
      <vt:lpstr>Limitations of 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Azran</dc:creator>
  <cp:lastModifiedBy>Guy Azran</cp:lastModifiedBy>
  <cp:revision>93</cp:revision>
  <dcterms:created xsi:type="dcterms:W3CDTF">2026-05-11T07:08:25Z</dcterms:created>
  <dcterms:modified xsi:type="dcterms:W3CDTF">2026-05-20T07:20:07Z</dcterms:modified>
</cp:coreProperties>
</file>