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8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1"/>
    <p:restoredTop sz="94684"/>
  </p:normalViewPr>
  <p:slideViewPr>
    <p:cSldViewPr snapToGrid="0">
      <p:cViewPr varScale="1">
        <p:scale>
          <a:sx n="139" d="100"/>
          <a:sy n="139" d="100"/>
        </p:scale>
        <p:origin x="16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15591-DA6D-A816-DC77-4AF32E814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7D9AE-0ECE-63B2-873B-5E13E3B9C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E6F44-BBC1-6292-0D43-01CBF96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DFF0F-966F-A6CE-38B1-A4140F41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C17E1-2123-36A0-474A-3C9425D08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7658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7D9A-BF29-EA9D-6DB3-F28D02C54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01A00-3F0A-CA8D-3143-BF9F58C70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FA00E-F185-BFB9-97A2-7999F752D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7CF31-FD6F-65AE-4C61-FDD8E6147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B7003-F203-968E-8A0B-616027D86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0236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16704-AF06-0A32-6834-B3C3B4E77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ADE05-49BE-ED67-D0B6-4B7D6D4F2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BC712-C6DA-97B2-4C22-6A5E3944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0F1E4-1521-148F-FEED-8FA2920D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77D25-F235-B673-896E-42B63EF0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44817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B6524-4A05-6955-A293-DA190AF4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F6272-0449-B07F-6E8E-892EC2FAFA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CB0A6-FD4F-9C3D-56DC-9F410AFDB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C223A-091D-3C59-805D-DFC02842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552F8-0A43-64E8-7CB6-B7DA4DB6D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10AF4-9E4B-EEA2-702B-A7A8CB3CB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7124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69BB6-8A84-99E9-E197-91E74D1E1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0B324-3EDB-737D-8EB3-42DC9272E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4FDEF3-9261-37F1-D44B-0766E40C2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E4292B-B05C-D7AC-01B9-C80816E13E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2F7882-E5C2-4AC0-BCCD-8224180991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2CD5B1-B6F0-21A7-B95F-CA606AEA0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3A24D9-0AC9-7153-B080-56D34FEB0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00186C-3664-0975-5038-35414DBE1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5782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68571-905B-B5ED-1536-1ADEABB33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0F14C4-3795-593D-C7C9-6B15E92CC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F10B4-785C-1452-5E93-01A3685DC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9BF5D-53EF-101B-870C-9D773D11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549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8205F5-9CCD-1B00-B95D-16EEF0A3A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3ED274-D712-F0B5-6A4C-671D4AD39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6FD0A-5B59-275F-5B6F-BDDB4CF73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951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92C9-C693-0C2B-7442-2A818ED6D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73364-5EFD-ABDF-7C2F-F7FC56118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0B6FB-6738-CA65-9241-E5D169B31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1FC50-E1B9-A839-FBEE-1C8FB968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84FE5-AC8A-5159-2D8F-F1BA46D7D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82E47-0F92-BC58-1F15-4DCED33A0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1579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9115E-699B-6C17-B553-C80CAF967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482359-A9ED-9E84-A966-D8EB9EB85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39D21-B2B5-6FE9-57B2-9DD0B54E8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45E63-CE04-9459-BA82-7CDE572CB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A10E2-B49F-A7A8-A6EF-52FCCDE0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CC4FE-3C1F-28F8-9C7D-FDAE5DBE0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8566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BCD3F-D855-BF0E-DAE0-A15727309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42380-765C-5FA9-3A02-56AD86E75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C913E-D435-6D55-D9EE-DD1E4D2E3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283B6-A740-EDDB-2F4E-1906D4313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BFE3A-A4DF-9B2E-E37E-9A36B7759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46510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F44251-8EB6-4C1F-F540-18A04E2A2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3E207-5253-63A5-DEA8-C3C82C5D9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FD08D-6015-484B-5437-00EB7A43F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5930C-7C32-6B78-C1B9-A4BEE7D34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C4E99-F929-C67B-0F09-9FD42B172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8703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30C4A3-1438-E0FD-AAA4-5B9288887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C9D74-3A28-C086-BE29-3A471E3AA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79030-B0FC-EEB4-FF40-88668219A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23C2C-AF8F-DE45-9875-E054503460EA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F6B1A-BB81-6F89-4EE6-3E0D50FDC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E6362-CCF8-93CB-FA10-E76159AD7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8043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.uchicago.edu/~may/REU2017/REUPapers/Freedman.pdf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BC19-45B6-3EF2-7B2F-9A52913C2B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L" dirty="0"/>
              <a:t>Tutorial 02 – Markov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613487-F6AA-BE4B-46E5-5D9551B082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L" dirty="0"/>
              <a:t>02360765 PARLAI Spring 2026</a:t>
            </a:r>
          </a:p>
          <a:p>
            <a:endParaRPr lang="en-IL" dirty="0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39FBF8E-F8BB-F906-D6FB-6B3CF263F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5881" y="4117577"/>
            <a:ext cx="3236119" cy="3236119"/>
          </a:xfrm>
          <a:prstGeom prst="rect">
            <a:avLst/>
          </a:prstGeom>
        </p:spPr>
      </p:pic>
      <p:pic>
        <p:nvPicPr>
          <p:cNvPr id="5" name="Picture 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7CCD9B0-014E-E08D-E8BE-81FCEEB42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8" y="6109680"/>
            <a:ext cx="5833457" cy="68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53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F744-49ED-13E6-B58F-158509829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Map of Models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7AA2527-5DB3-883C-06C4-B31014D8DDFB}"/>
              </a:ext>
            </a:extLst>
          </p:cNvPr>
          <p:cNvSpPr/>
          <p:nvPr/>
        </p:nvSpPr>
        <p:spPr>
          <a:xfrm>
            <a:off x="7115465" y="4412689"/>
            <a:ext cx="1637143" cy="16546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Dynamic Bayesian Networks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09FCB5C-FE4E-94C1-ADCD-046E15AEE01A}"/>
              </a:ext>
            </a:extLst>
          </p:cNvPr>
          <p:cNvSpPr/>
          <p:nvPr/>
        </p:nvSpPr>
        <p:spPr>
          <a:xfrm>
            <a:off x="9571180" y="4412689"/>
            <a:ext cx="1637143" cy="16546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Bayesian Networks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61CE35E-CFA0-29E6-FAF6-F6DDEAFADD2C}"/>
              </a:ext>
            </a:extLst>
          </p:cNvPr>
          <p:cNvSpPr/>
          <p:nvPr/>
        </p:nvSpPr>
        <p:spPr>
          <a:xfrm>
            <a:off x="4412675" y="4415867"/>
            <a:ext cx="1637143" cy="16546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Hidden Markov Models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C2028C2-FCA0-4AD6-192B-AF292B80C86F}"/>
              </a:ext>
            </a:extLst>
          </p:cNvPr>
          <p:cNvSpPr/>
          <p:nvPr/>
        </p:nvSpPr>
        <p:spPr>
          <a:xfrm>
            <a:off x="1879602" y="4415867"/>
            <a:ext cx="1637143" cy="16546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Markov Chains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097875-13BE-C88D-CF7F-C197F1BF2A62}"/>
              </a:ext>
            </a:extLst>
          </p:cNvPr>
          <p:cNvCxnSpPr>
            <a:stCxn id="15" idx="3"/>
            <a:endCxn id="14" idx="1"/>
          </p:cNvCxnSpPr>
          <p:nvPr/>
        </p:nvCxnSpPr>
        <p:spPr>
          <a:xfrm>
            <a:off x="3516745" y="5243177"/>
            <a:ext cx="89593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658B1F-DB99-80B0-7260-EBB096ADDD67}"/>
              </a:ext>
            </a:extLst>
          </p:cNvPr>
          <p:cNvCxnSpPr>
            <a:cxnSpLocks/>
            <a:stCxn id="14" idx="3"/>
            <a:endCxn id="12" idx="1"/>
          </p:cNvCxnSpPr>
          <p:nvPr/>
        </p:nvCxnSpPr>
        <p:spPr>
          <a:xfrm flipV="1">
            <a:off x="6049818" y="5239999"/>
            <a:ext cx="1065647" cy="31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A08E29-0FBE-B75A-CC65-59CCDC0E56C2}"/>
              </a:ext>
            </a:extLst>
          </p:cNvPr>
          <p:cNvCxnSpPr>
            <a:cxnSpLocks/>
            <a:stCxn id="13" idx="1"/>
            <a:endCxn id="12" idx="3"/>
          </p:cNvCxnSpPr>
          <p:nvPr/>
        </p:nvCxnSpPr>
        <p:spPr>
          <a:xfrm flipH="1">
            <a:off x="8752608" y="5239999"/>
            <a:ext cx="81857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F17D058-FC4E-6B72-10A7-AB9EFB98D3CF}"/>
              </a:ext>
            </a:extLst>
          </p:cNvPr>
          <p:cNvSpPr/>
          <p:nvPr/>
        </p:nvSpPr>
        <p:spPr>
          <a:xfrm>
            <a:off x="1879602" y="1928266"/>
            <a:ext cx="1637143" cy="16546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Markov Decision Process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A41CCB-FCF2-0F31-5DF0-B855F319A5DC}"/>
              </a:ext>
            </a:extLst>
          </p:cNvPr>
          <p:cNvCxnSpPr>
            <a:cxnSpLocks/>
            <a:stCxn id="15" idx="0"/>
            <a:endCxn id="27" idx="2"/>
          </p:cNvCxnSpPr>
          <p:nvPr/>
        </p:nvCxnSpPr>
        <p:spPr>
          <a:xfrm flipV="1">
            <a:off x="2698174" y="3582886"/>
            <a:ext cx="0" cy="83298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69B8365-BB7E-F526-0304-E0140AD195E5}"/>
              </a:ext>
            </a:extLst>
          </p:cNvPr>
          <p:cNvSpPr/>
          <p:nvPr/>
        </p:nvSpPr>
        <p:spPr>
          <a:xfrm>
            <a:off x="4412674" y="1922207"/>
            <a:ext cx="1637143" cy="16546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Partially Observable Markov Decision Process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B207EB1-49F0-0E77-A644-C5B8810AAFE7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 flipV="1">
            <a:off x="3516745" y="2749517"/>
            <a:ext cx="895929" cy="605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084C8DE-8032-3197-A1D9-C973547DB9E1}"/>
              </a:ext>
            </a:extLst>
          </p:cNvPr>
          <p:cNvCxnSpPr>
            <a:cxnSpLocks/>
            <a:stCxn id="14" idx="0"/>
            <a:endCxn id="31" idx="2"/>
          </p:cNvCxnSpPr>
          <p:nvPr/>
        </p:nvCxnSpPr>
        <p:spPr>
          <a:xfrm flipH="1" flipV="1">
            <a:off x="5231246" y="3576827"/>
            <a:ext cx="1" cy="83904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81017ED-5EFD-5D0C-137E-F2573857DEE3}"/>
              </a:ext>
            </a:extLst>
          </p:cNvPr>
          <p:cNvSpPr/>
          <p:nvPr/>
        </p:nvSpPr>
        <p:spPr>
          <a:xfrm>
            <a:off x="7115465" y="1930759"/>
            <a:ext cx="1637143" cy="16546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Factored (PO)MDP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EB4B2AA-04CB-2CAF-4FE9-EA0FCF56AF53}"/>
              </a:ext>
            </a:extLst>
          </p:cNvPr>
          <p:cNvCxnSpPr>
            <a:cxnSpLocks/>
            <a:stCxn id="31" idx="3"/>
            <a:endCxn id="39" idx="1"/>
          </p:cNvCxnSpPr>
          <p:nvPr/>
        </p:nvCxnSpPr>
        <p:spPr>
          <a:xfrm>
            <a:off x="6049817" y="2749517"/>
            <a:ext cx="1065648" cy="855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C077669-D0E4-0245-FFE7-008740D7B636}"/>
              </a:ext>
            </a:extLst>
          </p:cNvPr>
          <p:cNvCxnSpPr>
            <a:cxnSpLocks/>
            <a:stCxn id="12" idx="0"/>
            <a:endCxn id="39" idx="2"/>
          </p:cNvCxnSpPr>
          <p:nvPr/>
        </p:nvCxnSpPr>
        <p:spPr>
          <a:xfrm flipV="1">
            <a:off x="7934037" y="3585379"/>
            <a:ext cx="0" cy="82731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85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B6A49-52AD-CC88-1E8F-60FC87378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9F106-8E83-C855-BE1D-C8D33C6EE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L" dirty="0"/>
              <a:t>Passive models known as </a:t>
            </a:r>
            <a:r>
              <a:rPr lang="en-IL" b="1" dirty="0"/>
              <a:t>Stochastic Processes</a:t>
            </a:r>
            <a:r>
              <a:rPr lang="en-IL" dirty="0"/>
              <a:t>.</a:t>
            </a:r>
          </a:p>
          <a:p>
            <a:r>
              <a:rPr lang="en-IL" dirty="0"/>
              <a:t>No actions / control / decisions</a:t>
            </a:r>
          </a:p>
          <a:p>
            <a:r>
              <a:rPr lang="en-IL" dirty="0"/>
              <a:t>Temporal probabilistic dynamics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02A7B8-9DF9-E6EB-7D51-6EA278F35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  <a:endParaRPr lang="en-IL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ACA837-4E67-5942-7FA0-EE89E3EB552B}"/>
              </a:ext>
            </a:extLst>
          </p:cNvPr>
          <p:cNvSpPr/>
          <p:nvPr/>
        </p:nvSpPr>
        <p:spPr>
          <a:xfrm>
            <a:off x="7115465" y="4412689"/>
            <a:ext cx="1637143" cy="16546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Dynamic Bayesian Networks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CCD2011-AAE6-3F0A-20F0-20C22273785E}"/>
              </a:ext>
            </a:extLst>
          </p:cNvPr>
          <p:cNvSpPr/>
          <p:nvPr/>
        </p:nvSpPr>
        <p:spPr>
          <a:xfrm>
            <a:off x="9571180" y="4412689"/>
            <a:ext cx="1637143" cy="16546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Bayesian Networks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F1F76F1-586A-AF49-0DC4-C5E5609D602C}"/>
              </a:ext>
            </a:extLst>
          </p:cNvPr>
          <p:cNvSpPr/>
          <p:nvPr/>
        </p:nvSpPr>
        <p:spPr>
          <a:xfrm>
            <a:off x="4412675" y="4415867"/>
            <a:ext cx="1637143" cy="16546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Hidden Markov Models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54D09A6-9038-02F7-989A-1EDD860F2CA5}"/>
              </a:ext>
            </a:extLst>
          </p:cNvPr>
          <p:cNvSpPr/>
          <p:nvPr/>
        </p:nvSpPr>
        <p:spPr>
          <a:xfrm>
            <a:off x="1879602" y="4415867"/>
            <a:ext cx="1637143" cy="16546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Markov Chains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3EADB22-2137-8943-0194-DE7AC8A21519}"/>
              </a:ext>
            </a:extLst>
          </p:cNvPr>
          <p:cNvCxnSpPr>
            <a:stCxn id="15" idx="3"/>
            <a:endCxn id="14" idx="1"/>
          </p:cNvCxnSpPr>
          <p:nvPr/>
        </p:nvCxnSpPr>
        <p:spPr>
          <a:xfrm>
            <a:off x="3516745" y="5243177"/>
            <a:ext cx="89593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3B550A-4F0E-4B60-7FE7-63707F229EFC}"/>
              </a:ext>
            </a:extLst>
          </p:cNvPr>
          <p:cNvCxnSpPr>
            <a:cxnSpLocks/>
            <a:stCxn id="14" idx="3"/>
            <a:endCxn id="12" idx="1"/>
          </p:cNvCxnSpPr>
          <p:nvPr/>
        </p:nvCxnSpPr>
        <p:spPr>
          <a:xfrm flipV="1">
            <a:off x="6049818" y="5239999"/>
            <a:ext cx="1065647" cy="31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3C17AF-13A2-44AC-8153-3295351A2BB1}"/>
              </a:ext>
            </a:extLst>
          </p:cNvPr>
          <p:cNvCxnSpPr>
            <a:cxnSpLocks/>
            <a:stCxn id="13" idx="1"/>
            <a:endCxn id="12" idx="3"/>
          </p:cNvCxnSpPr>
          <p:nvPr/>
        </p:nvCxnSpPr>
        <p:spPr>
          <a:xfrm flipH="1">
            <a:off x="8752608" y="5239999"/>
            <a:ext cx="81857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0568348-54CD-DF73-6F24-DD4348660314}"/>
              </a:ext>
            </a:extLst>
          </p:cNvPr>
          <p:cNvSpPr txBox="1"/>
          <p:nvPr/>
        </p:nvSpPr>
        <p:spPr>
          <a:xfrm>
            <a:off x="9565414" y="4412689"/>
            <a:ext cx="12646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</a:t>
            </a:r>
            <a:r>
              <a:rPr lang="en-IL" sz="1400" dirty="0"/>
              <a:t>on Temporal</a:t>
            </a:r>
          </a:p>
        </p:txBody>
      </p:sp>
    </p:spTree>
    <p:extLst>
      <p:ext uri="{BB962C8B-B14F-4D97-AF65-F5344CB8AC3E}">
        <p14:creationId xmlns:p14="http://schemas.microsoft.com/office/powerpoint/2010/main" val="3234835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BEF00-9158-35A0-49A0-75A77E69D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The Markov Assumption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BC659C-E772-7DCE-6179-A7021A1F1B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265227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Markov assumption states that once the model’s designated local state or context is known, the variable of interest is independent of the rest of the past or nonlocal variables.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L" sz="3600"/>
                        <m:t>Future</m:t>
                      </m:r>
                      <m:r>
                        <a:rPr lang="en-IL" sz="3600" i="1">
                          <a:latin typeface="Cambria Math" panose="02040503050406030204" pitchFamily="18" charset="0"/>
                        </a:rPr>
                        <m:t>⊥</m:t>
                      </m:r>
                      <m:r>
                        <m:rPr>
                          <m:nor/>
                        </m:rPr>
                        <a:rPr lang="en-IL" sz="3600"/>
                        <m:t>Past</m:t>
                      </m:r>
                      <m:r>
                        <a:rPr lang="en-IL" sz="3600" i="1">
                          <a:latin typeface="Cambria Math" panose="02040503050406030204" pitchFamily="18" charset="0"/>
                        </a:rPr>
                        <m:t> |</m:t>
                      </m:r>
                      <m:r>
                        <a:rPr lang="en-IL" sz="36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L" sz="3600"/>
                        <m:t>Present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BC659C-E772-7DCE-6179-A7021A1F1B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265227" cy="4351338"/>
              </a:xfrm>
              <a:blipFill>
                <a:blip r:embed="rId2"/>
                <a:stretch>
                  <a:fillRect l="-1370" t="-232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\\.host\Shared Folders\Shared with PC\images\Markov.jpg">
            <a:extLst>
              <a:ext uri="{FF2B5EF4-FFF2-40B4-BE49-F238E27FC236}">
                <a16:creationId xmlns:a16="http://schemas.microsoft.com/office/drawing/2014/main" id="{31E7F04F-06CC-A007-E46D-CF05BDA29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03427" y="1690688"/>
            <a:ext cx="1607344" cy="2093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6275FC-F886-12A8-CEE8-18512C35F622}"/>
              </a:ext>
            </a:extLst>
          </p:cNvPr>
          <p:cNvSpPr txBox="1"/>
          <p:nvPr/>
        </p:nvSpPr>
        <p:spPr>
          <a:xfrm>
            <a:off x="10217727" y="3855691"/>
            <a:ext cx="154305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 err="1">
                <a:latin typeface="Calibri" pitchFamily="34" charset="0"/>
              </a:rPr>
              <a:t>Andrey</a:t>
            </a:r>
            <a:r>
              <a:rPr lang="en-US" sz="1350" dirty="0">
                <a:latin typeface="Calibri" pitchFamily="34" charset="0"/>
              </a:rPr>
              <a:t> Markov (1856-1922)</a:t>
            </a:r>
          </a:p>
          <a:p>
            <a:pPr algn="ctr"/>
            <a:endParaRPr lang="en-US" sz="135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85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84B78-B366-A450-1BB4-FBB9647DB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Running Example: Office Delivery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44CC1-3F07-DBF0-B5FF-703894F36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0600" cy="4351338"/>
          </a:xfrm>
        </p:spPr>
        <p:txBody>
          <a:bodyPr/>
          <a:lstStyle/>
          <a:p>
            <a:r>
              <a:rPr lang="en-IL" dirty="0"/>
              <a:t>A robot delivers letters and packages to employees in an office building.</a:t>
            </a:r>
          </a:p>
          <a:p>
            <a:r>
              <a:rPr lang="en-IL" dirty="0"/>
              <a:t>It traverses between different rooms to find the package recipients.</a:t>
            </a:r>
          </a:p>
          <a:p>
            <a:r>
              <a:rPr lang="en-IL" dirty="0"/>
              <a:t>We will define this problem using each of the probabilistic models to demonstrate their expressiveness and properties.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DCE5F-7B5C-2ABC-073A-42DF458E7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246" y="1690688"/>
            <a:ext cx="4268554" cy="365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593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3CEA-4666-96FD-1938-79950AB1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Markov Chains: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AC0CE4-1A69-215B-939D-E017D9B2F2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IL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𝒳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IL" dirty="0">
                    <a:effectLst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IL" i="1" smtClean="0"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IL" dirty="0"/>
                  <a:t> is a set of states/events. In our case, </a:t>
                </a:r>
                <a14:m>
                  <m:oMath xmlns:m="http://schemas.openxmlformats.org/officeDocument/2006/math">
                    <m:r>
                      <a:rPr lang="en-IL" i="1" smtClean="0"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IL" dirty="0"/>
                  <a:t> is finite with size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L" dirty="0"/>
                  <a:t>.</a:t>
                </a:r>
              </a:p>
              <a:p>
                <a:pPr lvl="1"/>
                <a:r>
                  <a:rPr lang="en-IL" dirty="0"/>
                  <a:t>A state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L" dirty="0"/>
                  <a:t> is represented by a random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L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L" i="1" smtClean="0"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IL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IL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IL" dirty="0"/>
                  <a:t> is a matrix defining conditional transition probabilities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L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sSub>
                          <m:sSubPr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en-IL" dirty="0"/>
              </a:p>
              <a:p>
                <a:pPr lvl="1"/>
                <a:r>
                  <a:rPr lang="en-IL" b="1" dirty="0"/>
                  <a:t>Transitions are Markov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L" dirty="0"/>
                  <a:t> is the initial distribution over states in </a:t>
                </a:r>
                <a14:m>
                  <m:oMath xmlns:m="http://schemas.openxmlformats.org/officeDocument/2006/math">
                    <m:r>
                      <a:rPr lang="en-IL" i="1" smtClean="0"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endParaRPr lang="en-IL" dirty="0"/>
              </a:p>
              <a:p>
                <a:pPr lvl="1"/>
                <a:r>
                  <a:rPr lang="en-US" dirty="0"/>
                  <a:t>T</a:t>
                </a:r>
                <a:r>
                  <a:rPr lang="en-IL" dirty="0"/>
                  <a:t>he first event is sampled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L" i="1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en-I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L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L" dirty="0"/>
                  <a:t> is represented as a row vector,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L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en-IL" dirty="0"/>
              </a:p>
              <a:p>
                <a:pPr lvl="1"/>
                <a:r>
                  <a:rPr lang="en-IL" dirty="0"/>
                  <a:t>Similarly, 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L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AC0CE4-1A69-215B-939D-E017D9B2F2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908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797F8-6DB9-90A0-0C3D-07A2044C0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Markov Chains: Distribution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CA3202-662B-3B54-88D4-86CACB6762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can we compute </a:t>
                </a:r>
                <a14:m>
                  <m:oMath xmlns:m="http://schemas.openxmlformats.org/officeDocument/2006/math">
                    <m:r>
                      <a:rPr lang="en-IL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IL" dirty="0"/>
                  <a:t>?</a:t>
                </a:r>
              </a:p>
              <a:p>
                <a:r>
                  <a:rPr lang="en-IL" dirty="0"/>
                  <a:t>By the law of total probability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L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L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L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L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IL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L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L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I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L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L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IL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L" dirty="0"/>
              </a:p>
              <a:p>
                <a:r>
                  <a:rPr lang="en-IL" dirty="0"/>
                  <a:t>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CA3202-662B-3B54-88D4-86CACB676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308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043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2A3B9-927A-CD05-7CF7-78EDD9A5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Markov Chains: Stationary Distributions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CFC7CA-06D9-0D74-B5D7-92D4AF518C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L" dirty="0"/>
                  <a:t>A state distribution </a:t>
                </a:r>
                <a14:m>
                  <m:oMath xmlns:m="http://schemas.openxmlformats.org/officeDocument/2006/math">
                    <m:r>
                      <a:rPr lang="en-I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IL" dirty="0"/>
                  <a:t> is called </a:t>
                </a:r>
                <a:r>
                  <a:rPr lang="en-IL" b="1" dirty="0"/>
                  <a:t>stationary</a:t>
                </a:r>
                <a:r>
                  <a:rPr lang="en-IL" dirty="0"/>
                  <a:t> if </a:t>
                </a:r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IL" dirty="0"/>
                  <a:t>.</a:t>
                </a:r>
              </a:p>
              <a:p>
                <a:r>
                  <a:rPr lang="en-IL" b="1" dirty="0"/>
                  <a:t>Theorem</a:t>
                </a:r>
                <a:r>
                  <a:rPr lang="en-IL" dirty="0"/>
                  <a:t>: For every finite Markov chain there exists at least one stationary distribution.</a:t>
                </a:r>
              </a:p>
              <a:p>
                <a:r>
                  <a:rPr lang="en-IL" b="1" dirty="0"/>
                  <a:t>Theorem</a:t>
                </a:r>
                <a:r>
                  <a:rPr lang="en-IL" dirty="0"/>
                  <a:t>: If a finite Markov chain is aperiodic (no cycles) and irreducable (any state can reach any state), then there exists a stationary distribution </a:t>
                </a:r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IL" dirty="0"/>
                  <a:t> such for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i="1"/>
                          <m:t>𝜇</m:t>
                        </m:r>
                      </m:e>
                      <m:sub>
                        <m:r>
                          <a:rPr lang="en-IL" i="1"/>
                          <m:t>𝑡</m:t>
                        </m:r>
                      </m:sub>
                    </m:sSub>
                    <m:groupChr>
                      <m:groupChrPr>
                        <m:chr m:val="→"/>
                        <m:pos m:val="top"/>
                        <m:ctrlPr>
                          <a:rPr lang="en-IL" i="1"/>
                        </m:ctrlPr>
                      </m:groupChrPr>
                      <m:e>
                        <m:r>
                          <a:rPr lang="en-IL" i="1"/>
                          <m:t>𝑡</m:t>
                        </m:r>
                        <m:r>
                          <a:rPr lang="en-IL" i="1"/>
                          <m:t>→∞</m:t>
                        </m:r>
                      </m:e>
                    </m:groupChr>
                    <m:r>
                      <a:rPr lang="en-IL" i="1"/>
                      <m:t>𝜋</m:t>
                    </m:r>
                  </m:oMath>
                </a14:m>
                <a:r>
                  <a:rPr lang="en-IL" dirty="0"/>
                  <a:t> for any initial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i="1"/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L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CFC7CA-06D9-0D74-B5D7-92D4AF518C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hlinkClick r:id="rId3"/>
            <a:extLst>
              <a:ext uri="{FF2B5EF4-FFF2-40B4-BE49-F238E27FC236}">
                <a16:creationId xmlns:a16="http://schemas.microsoft.com/office/drawing/2014/main" id="{9EBF68FE-E286-C39E-095B-F873EA1E5304}"/>
              </a:ext>
            </a:extLst>
          </p:cNvPr>
          <p:cNvSpPr txBox="1"/>
          <p:nvPr/>
        </p:nvSpPr>
        <p:spPr>
          <a:xfrm>
            <a:off x="548640" y="6199632"/>
            <a:ext cx="1739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Freedman 2017</a:t>
            </a:r>
          </a:p>
        </p:txBody>
      </p:sp>
    </p:spTree>
    <p:extLst>
      <p:ext uri="{BB962C8B-B14F-4D97-AF65-F5344CB8AC3E}">
        <p14:creationId xmlns:p14="http://schemas.microsoft.com/office/powerpoint/2010/main" val="1624468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1C6E7-8DAF-2CE0-88EC-62B085BEE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Markov Chains: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AD97F4-9032-AE75-B2BC-6C5E213CB0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L" dirty="0"/>
                  <a:t>Suppose our robot collects mail from the mailroom and delivers it to one of two offices.</a:t>
                </a:r>
              </a:p>
              <a:p>
                <a:r>
                  <a:rPr lang="en-IL" dirty="0"/>
                  <a:t>We want to know how the robot is spending its time.</a:t>
                </a:r>
              </a:p>
              <a:p>
                <a:r>
                  <a:rPr lang="en-IL" dirty="0"/>
                  <a:t>Define a Markov chain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IL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𝒳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IL" dirty="0"/>
                  <a:t> as follows: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L" i="1" smtClean="0">
                        <a:latin typeface="Cambria Math" panose="02040503050406030204" pitchFamily="18" charset="0"/>
                      </a:rPr>
                      <m:t>𝒳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𝑚𝑎𝑖𝑙𝑟𝑜𝑜𝑚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𝑜𝑓𝑓𝑖𝑐𝑒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𝑜𝑓𝑓𝑖𝑐𝑒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IL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0.4</m:t>
                              </m:r>
                            </m:e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0.4</m:t>
                              </m:r>
                            </m:e>
                          </m:mr>
                          <m:mr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0.7</m:t>
                              </m:r>
                            </m:e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L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L" dirty="0"/>
              </a:p>
              <a:p>
                <a:r>
                  <a:rPr lang="en-IL" dirty="0"/>
                  <a:t>Converges to stationary distribution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L"/>
                                <m:t>0.4152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L"/>
                                <m:t>0.2573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L"/>
                                <m:t>0.3275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L" dirty="0"/>
              </a:p>
              <a:p>
                <a:pPr lvl="1"/>
                <a:r>
                  <a:rPr lang="en-IL" dirty="0"/>
                  <a:t>The robot spends over 40% or its time waiting for mail!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AD97F4-9032-AE75-B2BC-6C5E213CB0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 r="-844" b="-145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760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3469C-A4A9-0917-1F56-84E6A43A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HMM: Definition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092DA9-548B-52CA-EE71-36A0D1DE54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L" dirty="0"/>
                  <a:t>In the hidden Markov model (HMM), the true state is unkonwn (hidden), but we can make observations.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IL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𝒳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𝒵</m:t>
                        </m:r>
                        <m:r>
                          <m:rPr>
                            <m:nor/>
                          </m:rPr>
                          <a:rPr lang="en-IL"/>
                          <m:t> </m:t>
                        </m:r>
                        <m:r>
                          <m:rPr>
                            <m:nor/>
                          </m:rPr>
                          <a:rPr lang="en-US" b="0" i="0" smtClean="0"/>
                          <m:t>,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IL" dirty="0"/>
              </a:p>
              <a:p>
                <a14:m>
                  <m:oMath xmlns:m="http://schemas.openxmlformats.org/officeDocument/2006/math">
                    <m:r>
                      <a:rPr lang="en-IL" i="1" smtClean="0"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IL" dirty="0"/>
                  <a:t>, </a:t>
                </a:r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IL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L" dirty="0"/>
                  <a:t> are as in Markov chains</a:t>
                </a:r>
              </a:p>
              <a:p>
                <a14:m>
                  <m:oMath xmlns:m="http://schemas.openxmlformats.org/officeDocument/2006/math">
                    <m:r>
                      <a:rPr lang="en-IL" i="1" smtClean="0">
                        <a:latin typeface="Cambria Math" panose="02040503050406030204" pitchFamily="18" charset="0"/>
                      </a:rPr>
                      <m:t>𝒵</m:t>
                    </m:r>
                  </m:oMath>
                </a14:m>
                <a:r>
                  <a:rPr lang="en-IL" dirty="0"/>
                  <a:t> is a set of possible observations</a:t>
                </a:r>
              </a:p>
              <a:p>
                <a:pPr lvl="1"/>
                <a:r>
                  <a:rPr lang="en-IL" dirty="0"/>
                  <a:t>An observation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L" dirty="0"/>
                  <a:t> is represented by a random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L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L" i="1" smtClean="0">
                        <a:latin typeface="Cambria Math" panose="02040503050406030204" pitchFamily="18" charset="0"/>
                      </a:rPr>
                      <m:t>𝒵</m:t>
                    </m:r>
                  </m:oMath>
                </a14:m>
                <a:r>
                  <a:rPr lang="en-IL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IL" dirty="0"/>
                  <a:t> is the emission (observation) matrix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L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e>
                        <m:sSub>
                          <m:sSubPr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en-IL" dirty="0"/>
              </a:p>
              <a:p>
                <a:pPr lvl="1"/>
                <a:r>
                  <a:rPr lang="en-IL" b="1" dirty="0"/>
                  <a:t>Emissions are Markov</a:t>
                </a:r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092DA9-548B-52CA-EE71-36A0D1DE54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936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6750A-0979-5D8B-0E0F-51A166A35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HMM: Inference Tasks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49FFC0-12E1-9437-7985-EEA2737437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L" dirty="0"/>
                  <a:t>What are some interesting quesitons that HMMs can answer?</a:t>
                </a:r>
              </a:p>
              <a:p>
                <a:r>
                  <a:rPr lang="en-IL" b="1" dirty="0"/>
                  <a:t>Filtering</a:t>
                </a:r>
                <a:r>
                  <a:rPr lang="en-IL" dirty="0"/>
                  <a:t>: estimate the current state for the given observation sequence, i.e., </a:t>
                </a:r>
                <a:r>
                  <a:rPr lang="en-US" dirty="0"/>
                  <a:t>c</a:t>
                </a:r>
                <a:r>
                  <a:rPr lang="en-IL" dirty="0"/>
                  <a:t>ompute </a:t>
                </a:r>
                <a14:m>
                  <m:oMath xmlns:m="http://schemas.openxmlformats.org/officeDocument/2006/math">
                    <m:r>
                      <a:rPr lang="en-IL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IL" dirty="0"/>
                  <a:t>.</a:t>
                </a:r>
              </a:p>
              <a:p>
                <a:r>
                  <a:rPr lang="en-IL" b="1" dirty="0"/>
                  <a:t>Smoothing</a:t>
                </a:r>
                <a:r>
                  <a:rPr lang="en-IL" dirty="0"/>
                  <a:t>: estimate a past state for the given observation sequence, i.e., compute </a:t>
                </a:r>
                <a14:m>
                  <m:oMath xmlns:m="http://schemas.openxmlformats.org/officeDocument/2006/math">
                    <m:r>
                      <a:rPr lang="en-IL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IL" dirty="0"/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L" dirty="0"/>
                  <a:t>.</a:t>
                </a:r>
              </a:p>
              <a:p>
                <a:r>
                  <a:rPr lang="en-IL" b="1" dirty="0"/>
                  <a:t>Most likely sequence</a:t>
                </a:r>
                <a:r>
                  <a:rPr lang="en-IL" dirty="0"/>
                  <a:t>: find the sequence of states that best explains the observations, i.e., compute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L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I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L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L" i="1">
                                    <a:latin typeface="Cambria Math" panose="02040503050406030204" pitchFamily="18" charset="0"/>
                                  </a:rPr>
                                  <m:t>0:</m:t>
                                </m:r>
                                <m:r>
                                  <a:rPr lang="en-IL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0: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IL" dirty="0"/>
                  <a:t>.</a:t>
                </a:r>
              </a:p>
              <a:p>
                <a:pPr marL="0" indent="0">
                  <a:buNone/>
                </a:pPr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49FFC0-12E1-9437-7985-EEA2737437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760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48ED2-78A8-535D-3900-439BD6AB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HMM: Belief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38EDDC-1D76-8914-C4EF-C4BF6D1FDC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L" dirty="0"/>
                  <a:t>Recursive filtering to maintain a “belief” over the current state.</a:t>
                </a:r>
              </a:p>
              <a:p>
                <a:r>
                  <a:rPr lang="en-US" dirty="0"/>
                  <a:t>Given observation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d</a:t>
                </a:r>
                <a:r>
                  <a:rPr lang="en-IL" dirty="0"/>
                  <a:t>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L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IL" dirty="0"/>
                  <a:t>.</a:t>
                </a:r>
              </a:p>
              <a:p>
                <a:r>
                  <a:rPr lang="en-IL" dirty="0"/>
                  <a:t>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L" dirty="0"/>
                  <a:t>.</a:t>
                </a:r>
              </a:p>
              <a:p>
                <a:r>
                  <a:rPr lang="en-IL" dirty="0"/>
                  <a:t>Precition: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IL"/>
                          <m:t>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IL" dirty="0"/>
                  <a:t>, as in Markov chain </a:t>
                </a:r>
                <a:r>
                  <a:rPr lang="en-US" dirty="0"/>
                  <a:t>p</a:t>
                </a:r>
                <a:r>
                  <a:rPr lang="en-IL" dirty="0"/>
                  <a:t>ropagation</a:t>
                </a:r>
              </a:p>
              <a:p>
                <a:r>
                  <a:rPr lang="en-IL" dirty="0"/>
                  <a:t>Update: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IL"/>
                          <m:t>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L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IL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𝒳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IL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L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en-IL"/>
                                  <m:t>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nary>
                      </m:den>
                    </m:f>
                  </m:oMath>
                </a14:m>
                <a:r>
                  <a:rPr lang="en-IL" dirty="0"/>
                  <a:t> is a normalizer ensuring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𝒳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d>
                          <m:dPr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L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L" dirty="0"/>
                  <a:t>.</a:t>
                </a:r>
              </a:p>
              <a:p>
                <a:pPr lvl="2"/>
                <a:r>
                  <a:rPr lang="en-IL" dirty="0"/>
                  <a:t>Note t</a:t>
                </a:r>
                <a:r>
                  <a:rPr lang="en-US" dirty="0"/>
                  <a:t>ha</a:t>
                </a:r>
                <a:r>
                  <a:rPr lang="en-IL" dirty="0"/>
                  <a:t>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IL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𝒳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I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L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en-IL"/>
                              <m:t>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L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38EDDC-1D76-8914-C4EF-C4BF6D1FDC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8793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61519-1BCA-0053-BB39-FB77A3C92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HMM: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ACA64E-6886-665B-8792-4335737593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L" dirty="0"/>
                  <a:t>The supervisor wants to check if the robot is slacking off. She doesn’t know where the robot is, but can monitor its observations.</a:t>
                </a:r>
              </a:p>
              <a:p>
                <a:r>
                  <a:rPr lang="en-IL" dirty="0"/>
                  <a:t>Define additional HMM components: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L" i="1" smtClean="0">
                        <a:latin typeface="Cambria Math" panose="02040503050406030204" pitchFamily="18" charset="0"/>
                      </a:rPr>
                      <m:t>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𝑠𝑒𝑒𝑀𝑎𝑖𝑙𝐵𝑖𝑛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𝑠𝑒𝑒𝐷𝑒𝑠𝑘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𝑠𝑒𝑒𝑊𝑎𝑡𝑒𝑟𝐶𝑜𝑜𝑙𝑒𝑟</m:t>
                        </m:r>
                      </m:e>
                    </m:d>
                  </m:oMath>
                </a14:m>
                <a:endParaRPr lang="en-IL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05</m:t>
                              </m:r>
                            </m:e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05</m:t>
                              </m:r>
                            </m:e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L" dirty="0"/>
              </a:p>
              <a:p>
                <a:r>
                  <a:rPr lang="en-IL" dirty="0"/>
                  <a:t>We know the robot started in the mailroom: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L" dirty="0"/>
              </a:p>
              <a:p>
                <a:pPr marL="0" indent="0">
                  <a:buNone/>
                </a:pPr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ACA64E-6886-665B-8792-4335737593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72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665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7F801-59B3-693A-31CE-DCC18754A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HMM: Example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3C8528-E367-5BA4-175D-E3920337D0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L" dirty="0"/>
                  <a:t>The robot reports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𝑠𝑒𝑒𝐷𝑒𝑠𝑘</m:t>
                    </m:r>
                  </m:oMath>
                </a14:m>
                <a:r>
                  <a:rPr lang="en-IL" dirty="0"/>
                  <a:t>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L" dirty="0"/>
                  <a:t>.</a:t>
                </a:r>
              </a:p>
              <a:p>
                <a:r>
                  <a:rPr lang="en-US" dirty="0"/>
                  <a:t>P</a:t>
                </a:r>
                <a:r>
                  <a:rPr lang="en-IL" dirty="0"/>
                  <a:t>redict: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IL"/>
                            <m:t>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L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0.2,0.4,0.4</m:t>
                          </m:r>
                        </m:e>
                      </m:d>
                    </m:oMath>
                  </m:oMathPara>
                </a14:m>
                <a:endParaRPr lang="en-IL" dirty="0"/>
              </a:p>
              <a:p>
                <a:r>
                  <a:rPr lang="en-IL" dirty="0"/>
                  <a:t>Update: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L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IL"/>
                            <m:t>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,0.4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0.7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,0.4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0.25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0.01,0.28,0.1</m:t>
                          </m:r>
                        </m:e>
                      </m:d>
                    </m:oMath>
                  </m:oMathPara>
                </a14:m>
                <a:endParaRPr lang="en-IL" dirty="0"/>
              </a:p>
              <a:p>
                <a:pPr lvl="1"/>
                <a:r>
                  <a:rPr lang="en-IL" dirty="0"/>
                  <a:t>Normalize: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IL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𝒳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IL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L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en-IL"/>
                                  <m:t>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nary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0.01+0.28+0.1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0.39</m:t>
                        </m:r>
                      </m:den>
                    </m:f>
                  </m:oMath>
                </a14:m>
                <a:endParaRPr lang="en-IL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L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0.01,0.28,0.1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0.39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0.0256,0.7179,0.256</m:t>
                          </m:r>
                        </m:e>
                      </m:d>
                    </m:oMath>
                  </m:oMathPara>
                </a14:m>
                <a:endParaRPr lang="en-IL" dirty="0"/>
              </a:p>
              <a:p>
                <a:r>
                  <a:rPr lang="en-IL" dirty="0"/>
                  <a:t>The robot is likely delivering mail and not slacking off in the mailroom.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3C8528-E367-5BA4-175D-E3920337D0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1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5564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86632-AFAD-685F-58B9-ACF35D338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Bayesian Networks: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2DFFDC-DAFF-4F64-DEA3-EC75399F5A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L" dirty="0"/>
                  <a:t>What if we have more than one variable? How can we represent the relationship between them?</a:t>
                </a:r>
              </a:p>
              <a:p>
                <a:r>
                  <a:rPr lang="en-IL" dirty="0"/>
                  <a:t>Bayesian networks are directed acyclic graphs (DAGs) where each node represents a random variable and each edge represents conditional dependence between those variables.</a:t>
                </a:r>
              </a:p>
              <a:p>
                <a:pPr lvl="1"/>
                <a:r>
                  <a:rPr lang="en-IL" dirty="0"/>
                  <a:t>Bayesian networks represent a </a:t>
                </a:r>
                <a:r>
                  <a:rPr lang="en-IL" b="1" dirty="0"/>
                  <a:t>sinlge time slice </a:t>
                </a:r>
                <a:r>
                  <a:rPr lang="en-IL" dirty="0"/>
                  <a:t>(non-temporal)</a:t>
                </a:r>
              </a:p>
              <a:p>
                <a:r>
                  <a:rPr lang="en-IL" dirty="0"/>
                  <a:t>This provides a factorization for computing joint distributions:</a:t>
                </a:r>
              </a:p>
              <a:p>
                <a:pPr lvl="1"/>
                <a:r>
                  <a:rPr lang="en-IL" dirty="0"/>
                  <a:t>Assuming we have random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L" dirty="0"/>
                  <a:t> aranged in a DAG, 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𝑃𝑎𝑟𝑒𝑛𝑡𝑠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2DFFDC-DAFF-4F64-DEA3-EC75399F5A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 r="-1206" b="-4389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ED00F82-0215-387E-508C-9884F371DE76}"/>
              </a:ext>
            </a:extLst>
          </p:cNvPr>
          <p:cNvSpPr txBox="1"/>
          <p:nvPr/>
        </p:nvSpPr>
        <p:spPr>
          <a:xfrm>
            <a:off x="676656" y="6050290"/>
            <a:ext cx="3215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800" dirty="0"/>
              <a:t>Why is this Markov?</a:t>
            </a:r>
          </a:p>
        </p:txBody>
      </p:sp>
    </p:spTree>
    <p:extLst>
      <p:ext uri="{BB962C8B-B14F-4D97-AF65-F5344CB8AC3E}">
        <p14:creationId xmlns:p14="http://schemas.microsoft.com/office/powerpoint/2010/main" val="2228118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FF8F-5C3B-C6B9-388F-6E79B0D55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Bayesian Networks: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9353BF-CB6C-1862-5949-B666805CD3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L" dirty="0"/>
                  <a:t>There are now additional variables to consider.</a:t>
                </a:r>
              </a:p>
              <a:p>
                <a:pPr lvl="1"/>
                <a:r>
                  <a:rPr lang="en-US" b="0" dirty="0"/>
                  <a:t>The robot location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L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𝑚𝑎𝑖𝑙𝑟𝑜𝑜𝑚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𝑜𝑓𝑓𝑖𝑐𝑒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𝑜𝑓𝑓𝑖𝑐𝑒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IL" dirty="0"/>
                  <a:t>.</a:t>
                </a:r>
              </a:p>
              <a:p>
                <a:pPr lvl="1"/>
                <a:r>
                  <a:rPr lang="en-US" b="0" dirty="0"/>
                  <a:t>The robot task mode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L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𝑖𝑑𝑙𝑒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𝑑𝑒𝑙𝑖𝑣𝑒𝑟𝑦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b="0" dirty="0"/>
                  <a:t>The robot’s battery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L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0,1,2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b="0" dirty="0"/>
                  <a:t>The sensor status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L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𝑤𝑜𝑟𝑘𝑖𝑛𝑔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𝑛𝑜𝑡𝑊𝑜𝑟𝑘𝑖𝑛𝑔</m:t>
                        </m:r>
                      </m:e>
                    </m:d>
                  </m:oMath>
                </a14:m>
                <a:endParaRPr lang="en-IL" dirty="0"/>
              </a:p>
              <a:p>
                <a:r>
                  <a:rPr lang="en-IL" dirty="0"/>
                  <a:t>These variables have conditional relationships</a:t>
                </a:r>
              </a:p>
              <a:p>
                <a:pPr lvl="1"/>
                <a:r>
                  <a:rPr lang="en-IL" dirty="0"/>
                  <a:t>The robot will only be idle in the mailroom</a:t>
                </a:r>
              </a:p>
              <a:p>
                <a:pPr lvl="1"/>
                <a:r>
                  <a:rPr lang="en-IL" dirty="0"/>
                  <a:t>The battery level affects the sensor status</a:t>
                </a:r>
              </a:p>
              <a:p>
                <a:pPr lvl="1"/>
                <a:r>
                  <a:rPr lang="en-IL" dirty="0"/>
                  <a:t>Critical battery will likely affect the task mode</a:t>
                </a:r>
              </a:p>
              <a:p>
                <a:pPr lvl="1"/>
                <a:r>
                  <a:rPr lang="en-IL" dirty="0"/>
                  <a:t>Some locations have bad reception, affecting the sensor</a:t>
                </a:r>
              </a:p>
              <a:p>
                <a:pPr marL="0" indent="0">
                  <a:buNone/>
                </a:pPr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9353BF-CB6C-1862-5949-B666805CD3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BE6F20B-4F48-35D7-8D24-9209BC98BE0F}"/>
                  </a:ext>
                </a:extLst>
              </p:cNvPr>
              <p:cNvSpPr/>
              <p:nvPr/>
            </p:nvSpPr>
            <p:spPr>
              <a:xfrm>
                <a:off x="9543472" y="3624172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BE6F20B-4F48-35D7-8D24-9209BC98BE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3472" y="3624172"/>
                <a:ext cx="905164" cy="9051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6F53451-5406-EC76-50AA-0DFCDDB56434}"/>
                  </a:ext>
                </a:extLst>
              </p:cNvPr>
              <p:cNvSpPr/>
              <p:nvPr/>
            </p:nvSpPr>
            <p:spPr>
              <a:xfrm>
                <a:off x="11032835" y="4938351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6F53451-5406-EC76-50AA-0DFCDDB56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2835" y="4938351"/>
                <a:ext cx="905164" cy="9051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49BD89E-F44D-9D3B-F998-325A738FE740}"/>
                  </a:ext>
                </a:extLst>
              </p:cNvPr>
              <p:cNvSpPr/>
              <p:nvPr/>
            </p:nvSpPr>
            <p:spPr>
              <a:xfrm>
                <a:off x="11032835" y="400411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49BD89E-F44D-9D3B-F998-325A738FE7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2835" y="400411"/>
                <a:ext cx="905164" cy="9051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2F76ED9-C9CF-2163-5536-72B7CD7675FF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>
            <a:off x="11485417" y="1305575"/>
            <a:ext cx="0" cy="3632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DC7D9FD-483F-84C4-EB4F-38D796EA8487}"/>
                  </a:ext>
                </a:extLst>
              </p:cNvPr>
              <p:cNvSpPr/>
              <p:nvPr/>
            </p:nvSpPr>
            <p:spPr>
              <a:xfrm>
                <a:off x="9543472" y="1791133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DC7D9FD-483F-84C4-EB4F-38D796EA84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3472" y="1791133"/>
                <a:ext cx="905164" cy="90516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076F68D-4336-A608-D799-E8A4FF9BA462}"/>
              </a:ext>
            </a:extLst>
          </p:cNvPr>
          <p:cNvCxnSpPr>
            <a:cxnSpLocks/>
            <a:stCxn id="10" idx="4"/>
            <a:endCxn id="4" idx="0"/>
          </p:cNvCxnSpPr>
          <p:nvPr/>
        </p:nvCxnSpPr>
        <p:spPr>
          <a:xfrm>
            <a:off x="9996054" y="2696297"/>
            <a:ext cx="0" cy="927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217841-BF09-6F3F-699D-1D8FF9938B2D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>
          <a:xfrm>
            <a:off x="10316078" y="4396778"/>
            <a:ext cx="849315" cy="674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0AB599A-CF28-0343-EDB7-22E4163FD677}"/>
              </a:ext>
            </a:extLst>
          </p:cNvPr>
          <p:cNvCxnSpPr>
            <a:cxnSpLocks/>
            <a:stCxn id="6" idx="3"/>
            <a:endCxn id="10" idx="7"/>
          </p:cNvCxnSpPr>
          <p:nvPr/>
        </p:nvCxnSpPr>
        <p:spPr>
          <a:xfrm flipH="1">
            <a:off x="10316078" y="1173017"/>
            <a:ext cx="849315" cy="750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96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3B487-61F9-3E3D-DA64-ADD85F8EE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6A5CA-BA84-7FD3-3F9F-A1BB1DD11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Bayesian Networks: Example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7E003-4985-B0D6-6551-B72325BA8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16863" cy="4351338"/>
          </a:xfrm>
        </p:spPr>
        <p:txBody>
          <a:bodyPr/>
          <a:lstStyle/>
          <a:p>
            <a:r>
              <a:rPr lang="en-IL" dirty="0"/>
              <a:t>Define conditional probabilities as a tables for each variable.</a:t>
            </a:r>
          </a:p>
          <a:p>
            <a:pPr lvl="1"/>
            <a:r>
              <a:rPr lang="en-IL" dirty="0"/>
              <a:t>Markovian in DAG relationships</a:t>
            </a:r>
          </a:p>
          <a:p>
            <a:pPr marL="0" indent="0">
              <a:buNone/>
            </a:pPr>
            <a:endParaRPr lang="en-IL" dirty="0"/>
          </a:p>
          <a:p>
            <a:pPr marL="0" indent="0">
              <a:buNone/>
            </a:pPr>
            <a:endParaRPr lang="en-IL" dirty="0"/>
          </a:p>
          <a:p>
            <a:endParaRPr lang="en-IL" dirty="0"/>
          </a:p>
          <a:p>
            <a:endParaRPr lang="en-IL" dirty="0"/>
          </a:p>
          <a:p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4A59DC4-BCE2-CFC0-5CA4-2270488A260B}"/>
                  </a:ext>
                </a:extLst>
              </p:cNvPr>
              <p:cNvSpPr/>
              <p:nvPr/>
            </p:nvSpPr>
            <p:spPr>
              <a:xfrm>
                <a:off x="9543472" y="3624172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4A59DC4-BCE2-CFC0-5CA4-2270488A26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3472" y="3624172"/>
                <a:ext cx="905164" cy="9051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FDCF1C3-458D-1745-7B9F-7935912B2DD7}"/>
                  </a:ext>
                </a:extLst>
              </p:cNvPr>
              <p:cNvSpPr/>
              <p:nvPr/>
            </p:nvSpPr>
            <p:spPr>
              <a:xfrm>
                <a:off x="11032835" y="4938351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FDCF1C3-458D-1745-7B9F-7935912B2D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2835" y="4938351"/>
                <a:ext cx="905164" cy="9051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4132744-21A7-027C-E652-123CA594AB8C}"/>
                  </a:ext>
                </a:extLst>
              </p:cNvPr>
              <p:cNvSpPr/>
              <p:nvPr/>
            </p:nvSpPr>
            <p:spPr>
              <a:xfrm>
                <a:off x="11032835" y="400411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4132744-21A7-027C-E652-123CA594AB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2835" y="400411"/>
                <a:ext cx="905164" cy="9051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BB5C71-32AB-AF36-F912-841A549B41CF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>
            <a:off x="11485417" y="1305575"/>
            <a:ext cx="0" cy="3632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C0A0041-5DD9-6561-E9F9-EC24CE0A58BE}"/>
                  </a:ext>
                </a:extLst>
              </p:cNvPr>
              <p:cNvSpPr/>
              <p:nvPr/>
            </p:nvSpPr>
            <p:spPr>
              <a:xfrm>
                <a:off x="9543472" y="1791133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C0A0041-5DD9-6561-E9F9-EC24CE0A58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3472" y="1791133"/>
                <a:ext cx="905164" cy="9051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2F9E0C-C3AC-9D27-EF62-F37F00C5412F}"/>
              </a:ext>
            </a:extLst>
          </p:cNvPr>
          <p:cNvCxnSpPr>
            <a:cxnSpLocks/>
            <a:stCxn id="10" idx="4"/>
            <a:endCxn id="4" idx="0"/>
          </p:cNvCxnSpPr>
          <p:nvPr/>
        </p:nvCxnSpPr>
        <p:spPr>
          <a:xfrm>
            <a:off x="9996054" y="2696297"/>
            <a:ext cx="0" cy="927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7D4E97-DF46-E725-4700-446630B63909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>
          <a:xfrm>
            <a:off x="10316078" y="4396778"/>
            <a:ext cx="849315" cy="674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30AB62B-8A6C-DD25-7750-196252C45239}"/>
              </a:ext>
            </a:extLst>
          </p:cNvPr>
          <p:cNvCxnSpPr>
            <a:cxnSpLocks/>
            <a:stCxn id="6" idx="3"/>
            <a:endCxn id="10" idx="7"/>
          </p:cNvCxnSpPr>
          <p:nvPr/>
        </p:nvCxnSpPr>
        <p:spPr>
          <a:xfrm flipH="1">
            <a:off x="10316078" y="1173017"/>
            <a:ext cx="849315" cy="750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ED0C786-91C6-93B3-1277-56D298231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75818"/>
              </p:ext>
            </p:extLst>
          </p:nvPr>
        </p:nvGraphicFramePr>
        <p:xfrm>
          <a:off x="316754" y="3802335"/>
          <a:ext cx="2836932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33">
                  <a:extLst>
                    <a:ext uri="{9D8B030D-6E8A-4147-A177-3AD203B41FA5}">
                      <a16:colId xmlns:a16="http://schemas.microsoft.com/office/drawing/2014/main" val="3309029738"/>
                    </a:ext>
                  </a:extLst>
                </a:gridCol>
                <a:gridCol w="709233">
                  <a:extLst>
                    <a:ext uri="{9D8B030D-6E8A-4147-A177-3AD203B41FA5}">
                      <a16:colId xmlns:a16="http://schemas.microsoft.com/office/drawing/2014/main" val="3501663100"/>
                    </a:ext>
                  </a:extLst>
                </a:gridCol>
                <a:gridCol w="709233">
                  <a:extLst>
                    <a:ext uri="{9D8B030D-6E8A-4147-A177-3AD203B41FA5}">
                      <a16:colId xmlns:a16="http://schemas.microsoft.com/office/drawing/2014/main" val="4182217736"/>
                    </a:ext>
                  </a:extLst>
                </a:gridCol>
                <a:gridCol w="709233">
                  <a:extLst>
                    <a:ext uri="{9D8B030D-6E8A-4147-A177-3AD203B41FA5}">
                      <a16:colId xmlns:a16="http://schemas.microsoft.com/office/drawing/2014/main" val="2846377084"/>
                    </a:ext>
                  </a:extLst>
                </a:gridCol>
              </a:tblGrid>
              <a:tr h="254861">
                <a:tc>
                  <a:txBody>
                    <a:bodyPr/>
                    <a:lstStyle/>
                    <a:p>
                      <a:r>
                        <a:rPr lang="en-IL" sz="1200" dirty="0"/>
                        <a:t>T\B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653428"/>
                  </a:ext>
                </a:extLst>
              </a:tr>
              <a:tr h="254861">
                <a:tc>
                  <a:txBody>
                    <a:bodyPr/>
                    <a:lstStyle/>
                    <a:p>
                      <a:r>
                        <a:rPr lang="en-IL" sz="1200" dirty="0"/>
                        <a:t>idle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497533"/>
                  </a:ext>
                </a:extLst>
              </a:tr>
              <a:tr h="254861">
                <a:tc>
                  <a:txBody>
                    <a:bodyPr/>
                    <a:lstStyle/>
                    <a:p>
                      <a:r>
                        <a:rPr lang="en-IL" sz="1200" dirty="0"/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7693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DE2A34D-75B4-6AD4-5E13-6074DB777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748160"/>
              </p:ext>
            </p:extLst>
          </p:nvPr>
        </p:nvGraphicFramePr>
        <p:xfrm>
          <a:off x="3770546" y="3784113"/>
          <a:ext cx="254649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831">
                  <a:extLst>
                    <a:ext uri="{9D8B030D-6E8A-4147-A177-3AD203B41FA5}">
                      <a16:colId xmlns:a16="http://schemas.microsoft.com/office/drawing/2014/main" val="3309029738"/>
                    </a:ext>
                  </a:extLst>
                </a:gridCol>
                <a:gridCol w="848831">
                  <a:extLst>
                    <a:ext uri="{9D8B030D-6E8A-4147-A177-3AD203B41FA5}">
                      <a16:colId xmlns:a16="http://schemas.microsoft.com/office/drawing/2014/main" val="3501663100"/>
                    </a:ext>
                  </a:extLst>
                </a:gridCol>
                <a:gridCol w="848831">
                  <a:extLst>
                    <a:ext uri="{9D8B030D-6E8A-4147-A177-3AD203B41FA5}">
                      <a16:colId xmlns:a16="http://schemas.microsoft.com/office/drawing/2014/main" val="4182217736"/>
                    </a:ext>
                  </a:extLst>
                </a:gridCol>
              </a:tblGrid>
              <a:tr h="222067">
                <a:tc>
                  <a:txBody>
                    <a:bodyPr/>
                    <a:lstStyle/>
                    <a:p>
                      <a:r>
                        <a:rPr lang="en-IL" sz="1200" dirty="0"/>
                        <a:t>L\T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idle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delivery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653428"/>
                  </a:ext>
                </a:extLst>
              </a:tr>
              <a:tr h="222067">
                <a:tc>
                  <a:txBody>
                    <a:bodyPr/>
                    <a:lstStyle/>
                    <a:p>
                      <a:r>
                        <a:rPr lang="en-IL" sz="1200" dirty="0"/>
                        <a:t>mailroom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497533"/>
                  </a:ext>
                </a:extLst>
              </a:tr>
              <a:tr h="222067">
                <a:tc>
                  <a:txBody>
                    <a:bodyPr/>
                    <a:lstStyle/>
                    <a:p>
                      <a:r>
                        <a:rPr lang="en-IL" sz="1200" dirty="0"/>
                        <a:t>office1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769371"/>
                  </a:ext>
                </a:extLst>
              </a:tr>
              <a:tr h="222067">
                <a:tc>
                  <a:txBody>
                    <a:bodyPr/>
                    <a:lstStyle/>
                    <a:p>
                      <a:r>
                        <a:rPr lang="en-IL" sz="1200" dirty="0"/>
                        <a:t>office2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2154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D37467-C593-D7CA-093C-3D8E85476239}"/>
                  </a:ext>
                </a:extLst>
              </p:cNvPr>
              <p:cNvSpPr txBox="1"/>
              <p:nvPr/>
            </p:nvSpPr>
            <p:spPr>
              <a:xfrm>
                <a:off x="1262462" y="3455157"/>
                <a:ext cx="9455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D37467-C593-D7CA-093C-3D8E85476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462" y="3455157"/>
                <a:ext cx="94551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0BC96B-17E7-59BA-C0F1-29188E2AC95F}"/>
                  </a:ext>
                </a:extLst>
              </p:cNvPr>
              <p:cNvSpPr txBox="1"/>
              <p:nvPr/>
            </p:nvSpPr>
            <p:spPr>
              <a:xfrm>
                <a:off x="4586198" y="3422377"/>
                <a:ext cx="9151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0BC96B-17E7-59BA-C0F1-29188E2AC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198" y="3422377"/>
                <a:ext cx="91518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D9AA4F9-1558-7AF5-9B7E-EFF393EAF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606471"/>
              </p:ext>
            </p:extLst>
          </p:nvPr>
        </p:nvGraphicFramePr>
        <p:xfrm>
          <a:off x="77966" y="5449332"/>
          <a:ext cx="991809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1809">
                  <a:extLst>
                    <a:ext uri="{9D8B030D-6E8A-4147-A177-3AD203B41FA5}">
                      <a16:colId xmlns:a16="http://schemas.microsoft.com/office/drawing/2014/main" val="3309029738"/>
                    </a:ext>
                  </a:extLst>
                </a:gridCol>
                <a:gridCol w="991809">
                  <a:extLst>
                    <a:ext uri="{9D8B030D-6E8A-4147-A177-3AD203B41FA5}">
                      <a16:colId xmlns:a16="http://schemas.microsoft.com/office/drawing/2014/main" val="3501663100"/>
                    </a:ext>
                  </a:extLst>
                </a:gridCol>
                <a:gridCol w="991809">
                  <a:extLst>
                    <a:ext uri="{9D8B030D-6E8A-4147-A177-3AD203B41FA5}">
                      <a16:colId xmlns:a16="http://schemas.microsoft.com/office/drawing/2014/main" val="4182217736"/>
                    </a:ext>
                  </a:extLst>
                </a:gridCol>
                <a:gridCol w="991809">
                  <a:extLst>
                    <a:ext uri="{9D8B030D-6E8A-4147-A177-3AD203B41FA5}">
                      <a16:colId xmlns:a16="http://schemas.microsoft.com/office/drawing/2014/main" val="2846377084"/>
                    </a:ext>
                  </a:extLst>
                </a:gridCol>
                <a:gridCol w="991809">
                  <a:extLst>
                    <a:ext uri="{9D8B030D-6E8A-4147-A177-3AD203B41FA5}">
                      <a16:colId xmlns:a16="http://schemas.microsoft.com/office/drawing/2014/main" val="2109084056"/>
                    </a:ext>
                  </a:extLst>
                </a:gridCol>
                <a:gridCol w="991809">
                  <a:extLst>
                    <a:ext uri="{9D8B030D-6E8A-4147-A177-3AD203B41FA5}">
                      <a16:colId xmlns:a16="http://schemas.microsoft.com/office/drawing/2014/main" val="1429379043"/>
                    </a:ext>
                  </a:extLst>
                </a:gridCol>
                <a:gridCol w="991809">
                  <a:extLst>
                    <a:ext uri="{9D8B030D-6E8A-4147-A177-3AD203B41FA5}">
                      <a16:colId xmlns:a16="http://schemas.microsoft.com/office/drawing/2014/main" val="3739160142"/>
                    </a:ext>
                  </a:extLst>
                </a:gridCol>
                <a:gridCol w="991809">
                  <a:extLst>
                    <a:ext uri="{9D8B030D-6E8A-4147-A177-3AD203B41FA5}">
                      <a16:colId xmlns:a16="http://schemas.microsoft.com/office/drawing/2014/main" val="1779339037"/>
                    </a:ext>
                  </a:extLst>
                </a:gridCol>
                <a:gridCol w="991809">
                  <a:extLst>
                    <a:ext uri="{9D8B030D-6E8A-4147-A177-3AD203B41FA5}">
                      <a16:colId xmlns:a16="http://schemas.microsoft.com/office/drawing/2014/main" val="1806157169"/>
                    </a:ext>
                  </a:extLst>
                </a:gridCol>
                <a:gridCol w="991809">
                  <a:extLst>
                    <a:ext uri="{9D8B030D-6E8A-4147-A177-3AD203B41FA5}">
                      <a16:colId xmlns:a16="http://schemas.microsoft.com/office/drawing/2014/main" val="2053713655"/>
                    </a:ext>
                  </a:extLst>
                </a:gridCol>
              </a:tblGrid>
              <a:tr h="230551">
                <a:tc>
                  <a:txBody>
                    <a:bodyPr/>
                    <a:lstStyle/>
                    <a:p>
                      <a:r>
                        <a:rPr lang="en-IL" sz="1200" dirty="0"/>
                        <a:t>T\B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0,mailroom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0,office1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0,office2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1,mailroom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1,office1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1,office2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2,mailroom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2,office1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2,office2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653428"/>
                  </a:ext>
                </a:extLst>
              </a:tr>
              <a:tr h="230551">
                <a:tc>
                  <a:txBody>
                    <a:bodyPr/>
                    <a:lstStyle/>
                    <a:p>
                      <a:r>
                        <a:rPr lang="en-IL" sz="1200" dirty="0"/>
                        <a:t>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497533"/>
                  </a:ext>
                </a:extLst>
              </a:tr>
              <a:tr h="230551">
                <a:tc>
                  <a:txBody>
                    <a:bodyPr/>
                    <a:lstStyle/>
                    <a:p>
                      <a:r>
                        <a:rPr lang="en-IL" sz="1200" dirty="0"/>
                        <a:t>notWorking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76937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0240B1-049F-0DD4-5036-4DDCF30BBF5B}"/>
                  </a:ext>
                </a:extLst>
              </p:cNvPr>
              <p:cNvSpPr txBox="1"/>
              <p:nvPr/>
            </p:nvSpPr>
            <p:spPr>
              <a:xfrm>
                <a:off x="4475242" y="5129729"/>
                <a:ext cx="11436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0240B1-049F-0DD4-5036-4DDCF30BB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242" y="5129729"/>
                <a:ext cx="114364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87FF989-3A11-30B7-EA99-92614D560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490382"/>
              </p:ext>
            </p:extLst>
          </p:nvPr>
        </p:nvGraphicFramePr>
        <p:xfrm>
          <a:off x="6724434" y="3895083"/>
          <a:ext cx="254649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831">
                  <a:extLst>
                    <a:ext uri="{9D8B030D-6E8A-4147-A177-3AD203B41FA5}">
                      <a16:colId xmlns:a16="http://schemas.microsoft.com/office/drawing/2014/main" val="3309029738"/>
                    </a:ext>
                  </a:extLst>
                </a:gridCol>
                <a:gridCol w="848831">
                  <a:extLst>
                    <a:ext uri="{9D8B030D-6E8A-4147-A177-3AD203B41FA5}">
                      <a16:colId xmlns:a16="http://schemas.microsoft.com/office/drawing/2014/main" val="3501663100"/>
                    </a:ext>
                  </a:extLst>
                </a:gridCol>
                <a:gridCol w="848831">
                  <a:extLst>
                    <a:ext uri="{9D8B030D-6E8A-4147-A177-3AD203B41FA5}">
                      <a16:colId xmlns:a16="http://schemas.microsoft.com/office/drawing/2014/main" val="4182217736"/>
                    </a:ext>
                  </a:extLst>
                </a:gridCol>
              </a:tblGrid>
              <a:tr h="222067">
                <a:tc>
                  <a:txBody>
                    <a:bodyPr/>
                    <a:lstStyle/>
                    <a:p>
                      <a:r>
                        <a:rPr lang="en-IL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653428"/>
                  </a:ext>
                </a:extLst>
              </a:tr>
              <a:tr h="222067">
                <a:tc>
                  <a:txBody>
                    <a:bodyPr/>
                    <a:lstStyle/>
                    <a:p>
                      <a:r>
                        <a:rPr lang="en-IL" sz="1200" dirty="0"/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4975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084CDE4-9A6D-2B18-5EEF-66D3717F6FE7}"/>
                  </a:ext>
                </a:extLst>
              </p:cNvPr>
              <p:cNvSpPr txBox="1"/>
              <p:nvPr/>
            </p:nvSpPr>
            <p:spPr>
              <a:xfrm>
                <a:off x="7540086" y="3520204"/>
                <a:ext cx="7303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084CDE4-9A6D-2B18-5EEF-66D3717F6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086" y="3520204"/>
                <a:ext cx="73032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4510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7CAAC-0088-5351-F877-5ECA94307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251F-E0DF-9D27-41AC-FC315B31E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Bayesian Networks: Example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1A9178-0CF2-A09A-5460-6D32BD16E4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516863" cy="435133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Assuming the battery level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task mode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𝑑𝑒𝑙𝑖𝑣𝑒𝑟𝑦</m:t>
                    </m:r>
                  </m:oMath>
                </a14:m>
                <a:r>
                  <a:rPr lang="en-US" dirty="0"/>
                  <a:t>, and the sensor is in status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𝑛𝑜𝑡𝑊𝑜𝑟𝑘𝑖𝑛𝑔</m:t>
                    </m:r>
                  </m:oMath>
                </a14:m>
                <a:r>
                  <a:rPr lang="en-US" dirty="0"/>
                  <a:t>, what is the probability that the robot is in the mailroom?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IL" dirty="0"/>
              </a:p>
              <a:p>
                <a:r>
                  <a:rPr lang="en-IL" dirty="0"/>
                  <a:t>Factorize using the Bayesian network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=0.3225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b="0" dirty="0"/>
                  <a:t>We conclude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0.025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0.3225</m:t>
                          </m:r>
                        </m:den>
                      </m:f>
                      <m:r>
                        <a:rPr lang="en-IL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0.0775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IL" dirty="0"/>
              </a:p>
              <a:p>
                <a:pPr marL="0" indent="0">
                  <a:buNone/>
                </a:pPr>
                <a:endParaRPr lang="en-IL" dirty="0"/>
              </a:p>
              <a:p>
                <a:pPr marL="0" indent="0">
                  <a:buNone/>
                </a:pPr>
                <a:endParaRPr lang="en-IL" dirty="0"/>
              </a:p>
              <a:p>
                <a:endParaRPr lang="en-IL" dirty="0"/>
              </a:p>
              <a:p>
                <a:endParaRPr lang="en-IL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1A9178-0CF2-A09A-5460-6D32BD16E4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516863" cy="4351338"/>
              </a:xfrm>
              <a:blipFill>
                <a:blip r:embed="rId2"/>
                <a:stretch>
                  <a:fillRect l="-894" t="-2616" r="-745" b="-319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CFC9511-69B3-392C-BD5D-0DCB828ABEE0}"/>
                  </a:ext>
                </a:extLst>
              </p:cNvPr>
              <p:cNvSpPr/>
              <p:nvPr/>
            </p:nvSpPr>
            <p:spPr>
              <a:xfrm>
                <a:off x="9543472" y="3624172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CFC9511-69B3-392C-BD5D-0DCB828ABE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3472" y="3624172"/>
                <a:ext cx="905164" cy="9051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7F0AC6C-6A6D-9183-DA42-2F8B7581C571}"/>
                  </a:ext>
                </a:extLst>
              </p:cNvPr>
              <p:cNvSpPr/>
              <p:nvPr/>
            </p:nvSpPr>
            <p:spPr>
              <a:xfrm>
                <a:off x="11032835" y="4938351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7F0AC6C-6A6D-9183-DA42-2F8B7581C5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2835" y="4938351"/>
                <a:ext cx="905164" cy="9051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4393C70-50A0-16E0-B9D3-E483B7D67EA0}"/>
                  </a:ext>
                </a:extLst>
              </p:cNvPr>
              <p:cNvSpPr/>
              <p:nvPr/>
            </p:nvSpPr>
            <p:spPr>
              <a:xfrm>
                <a:off x="11032835" y="400411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4393C70-50A0-16E0-B9D3-E483B7D67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2835" y="400411"/>
                <a:ext cx="905164" cy="9051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2EC05A8-D658-6DCA-6288-35C3CBC27485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>
            <a:off x="11485417" y="1305575"/>
            <a:ext cx="0" cy="3632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AB4202-6C13-9FBB-FD8D-EF09A5444AF0}"/>
                  </a:ext>
                </a:extLst>
              </p:cNvPr>
              <p:cNvSpPr/>
              <p:nvPr/>
            </p:nvSpPr>
            <p:spPr>
              <a:xfrm>
                <a:off x="9543472" y="1791133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AB4202-6C13-9FBB-FD8D-EF09A5444A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3472" y="1791133"/>
                <a:ext cx="905164" cy="90516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A07D116-6006-B7D9-1D05-5D7992568021}"/>
              </a:ext>
            </a:extLst>
          </p:cNvPr>
          <p:cNvCxnSpPr>
            <a:cxnSpLocks/>
            <a:stCxn id="10" idx="4"/>
            <a:endCxn id="4" idx="0"/>
          </p:cNvCxnSpPr>
          <p:nvPr/>
        </p:nvCxnSpPr>
        <p:spPr>
          <a:xfrm>
            <a:off x="9996054" y="2696297"/>
            <a:ext cx="0" cy="927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2D20EA-256C-2A55-7633-CAD738E1E550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>
          <a:xfrm>
            <a:off x="10316078" y="4396778"/>
            <a:ext cx="849315" cy="674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7024AAC-670F-B56E-003A-5BF43DFDC797}"/>
              </a:ext>
            </a:extLst>
          </p:cNvPr>
          <p:cNvCxnSpPr>
            <a:cxnSpLocks/>
            <a:stCxn id="6" idx="3"/>
            <a:endCxn id="10" idx="7"/>
          </p:cNvCxnSpPr>
          <p:nvPr/>
        </p:nvCxnSpPr>
        <p:spPr>
          <a:xfrm flipH="1">
            <a:off x="10316078" y="1173017"/>
            <a:ext cx="849315" cy="750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545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85BEE-015D-0E45-5F15-0F024EEC2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DBN: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6D88D-0D8C-0FE6-AC0B-D0E5AC48C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A dynamic Bayesian network (DBN) is an extension of a Bayesian network over time, as in Markov chains and HMMs.</a:t>
            </a:r>
          </a:p>
          <a:p>
            <a:pPr lvl="1"/>
            <a:r>
              <a:rPr lang="en-US" dirty="0"/>
              <a:t>Bayesian network only considers one time slice</a:t>
            </a:r>
          </a:p>
          <a:p>
            <a:pPr lvl="1"/>
            <a:r>
              <a:rPr lang="en-US" dirty="0"/>
              <a:t>DBNs = Bayesian networks + temporal edges</a:t>
            </a:r>
          </a:p>
          <a:p>
            <a:pPr lvl="1"/>
            <a:r>
              <a:rPr lang="en-US" dirty="0"/>
              <a:t>HMM is a special case of DBN.</a:t>
            </a:r>
          </a:p>
          <a:p>
            <a:r>
              <a:rPr lang="en-US" dirty="0"/>
              <a:t>Define transitions as a 2 time-slice Bayesian network (2-TBN).</a:t>
            </a:r>
          </a:p>
          <a:p>
            <a:pPr lvl="1"/>
            <a:r>
              <a:rPr lang="en-US" dirty="0"/>
              <a:t>Transitions between variables are transition matrices</a:t>
            </a:r>
          </a:p>
          <a:p>
            <a:r>
              <a:rPr lang="en-US" dirty="0"/>
              <a:t>Let’s define a HMM as a DBN: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59623EA-4F63-7451-56A0-EBE3F856D7A9}"/>
                  </a:ext>
                </a:extLst>
              </p:cNvPr>
              <p:cNvSpPr/>
              <p:nvPr/>
            </p:nvSpPr>
            <p:spPr>
              <a:xfrm>
                <a:off x="9176326" y="4374969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59623EA-4F63-7451-56A0-EBE3F856D7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326" y="4374969"/>
                <a:ext cx="905164" cy="9051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67F205E-3335-C534-3E09-C18FE7726897}"/>
                  </a:ext>
                </a:extLst>
              </p:cNvPr>
              <p:cNvSpPr/>
              <p:nvPr/>
            </p:nvSpPr>
            <p:spPr>
              <a:xfrm>
                <a:off x="9176326" y="5803900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67F205E-3335-C534-3E09-C18FE77268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326" y="5803900"/>
                <a:ext cx="905164" cy="9051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F96CFE-2A8C-7E54-F06A-9A6CFAD85ECA}"/>
              </a:ext>
            </a:extLst>
          </p:cNvPr>
          <p:cNvCxnSpPr>
            <a:stCxn id="4" idx="4"/>
            <a:endCxn id="5" idx="0"/>
          </p:cNvCxnSpPr>
          <p:nvPr/>
        </p:nvCxnSpPr>
        <p:spPr>
          <a:xfrm>
            <a:off x="9628908" y="5280133"/>
            <a:ext cx="0" cy="523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0472A03-4645-5718-578B-7F74BAA57335}"/>
                  </a:ext>
                </a:extLst>
              </p:cNvPr>
              <p:cNvSpPr/>
              <p:nvPr/>
            </p:nvSpPr>
            <p:spPr>
              <a:xfrm>
                <a:off x="11142517" y="4374969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0472A03-4645-5718-578B-7F74BAA573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2517" y="4374969"/>
                <a:ext cx="905164" cy="9051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6D41F87-AAF8-D835-2174-AB408762B612}"/>
                  </a:ext>
                </a:extLst>
              </p:cNvPr>
              <p:cNvSpPr/>
              <p:nvPr/>
            </p:nvSpPr>
            <p:spPr>
              <a:xfrm>
                <a:off x="11142517" y="5803900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6D41F87-AAF8-D835-2174-AB408762B6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2517" y="5803900"/>
                <a:ext cx="905164" cy="9051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35DCAD-C998-5647-CE17-09DD6F95483B}"/>
              </a:ext>
            </a:extLst>
          </p:cNvPr>
          <p:cNvCxnSpPr>
            <a:stCxn id="11" idx="4"/>
            <a:endCxn id="12" idx="0"/>
          </p:cNvCxnSpPr>
          <p:nvPr/>
        </p:nvCxnSpPr>
        <p:spPr>
          <a:xfrm>
            <a:off x="11595099" y="5280133"/>
            <a:ext cx="0" cy="523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21EEE6-AA1B-4B7C-30CD-201408D3D727}"/>
              </a:ext>
            </a:extLst>
          </p:cNvPr>
          <p:cNvCxnSpPr>
            <a:stCxn id="4" idx="6"/>
            <a:endCxn id="11" idx="2"/>
          </p:cNvCxnSpPr>
          <p:nvPr/>
        </p:nvCxnSpPr>
        <p:spPr>
          <a:xfrm>
            <a:off x="10081490" y="4827551"/>
            <a:ext cx="1061027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FC70F86-1AAA-D1BF-18D8-D4DA8D3A3959}"/>
                  </a:ext>
                </a:extLst>
              </p:cNvPr>
              <p:cNvSpPr txBox="1"/>
              <p:nvPr/>
            </p:nvSpPr>
            <p:spPr>
              <a:xfrm>
                <a:off x="10411671" y="4504672"/>
                <a:ext cx="379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FC70F86-1AAA-D1BF-18D8-D4DA8D3A3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1671" y="4504672"/>
                <a:ext cx="37946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CEFEC-8BF1-26B4-1CA5-20701932FE47}"/>
                  </a:ext>
                </a:extLst>
              </p:cNvPr>
              <p:cNvSpPr txBox="1"/>
              <p:nvPr/>
            </p:nvSpPr>
            <p:spPr>
              <a:xfrm>
                <a:off x="9305961" y="5357350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CEFEC-8BF1-26B4-1CA5-20701932F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961" y="5357350"/>
                <a:ext cx="39228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6638A3-5CF1-362C-74FD-71499E6220BF}"/>
                  </a:ext>
                </a:extLst>
              </p:cNvPr>
              <p:cNvSpPr txBox="1"/>
              <p:nvPr/>
            </p:nvSpPr>
            <p:spPr>
              <a:xfrm>
                <a:off x="11318786" y="5357350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6638A3-5CF1-362C-74FD-71499E622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8786" y="5357350"/>
                <a:ext cx="3922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433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2B7B9-A83F-D5E2-8CCB-EA92ADEB0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DBN: Example 2-TBN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57CB70B-F44A-D6EC-1DAE-6BFEA9BC93D5}"/>
                  </a:ext>
                </a:extLst>
              </p:cNvPr>
              <p:cNvSpPr/>
              <p:nvPr/>
            </p:nvSpPr>
            <p:spPr>
              <a:xfrm>
                <a:off x="9631398" y="4461867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57CB70B-F44A-D6EC-1DAE-6BFEA9BC93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398" y="4461867"/>
                <a:ext cx="905164" cy="9051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3967392-EE82-0E16-4DAA-2F344C051225}"/>
                  </a:ext>
                </a:extLst>
              </p:cNvPr>
              <p:cNvSpPr/>
              <p:nvPr/>
            </p:nvSpPr>
            <p:spPr>
              <a:xfrm>
                <a:off x="11120761" y="5776046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3967392-EE82-0E16-4DAA-2F344C0512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0761" y="5776046"/>
                <a:ext cx="905164" cy="9051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26E3625-F17F-AC20-AADE-AC5C8448B336}"/>
                  </a:ext>
                </a:extLst>
              </p:cNvPr>
              <p:cNvSpPr/>
              <p:nvPr/>
            </p:nvSpPr>
            <p:spPr>
              <a:xfrm>
                <a:off x="11120761" y="1238106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26E3625-F17F-AC20-AADE-AC5C8448B3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0761" y="1238106"/>
                <a:ext cx="905164" cy="9051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78E8A7-537E-229E-1414-18AC17BDF670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>
            <a:off x="11573343" y="2143270"/>
            <a:ext cx="0" cy="3632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1BC2EEA-C6D7-A103-2FB3-BEBDC9DEC01E}"/>
                  </a:ext>
                </a:extLst>
              </p:cNvPr>
              <p:cNvSpPr/>
              <p:nvPr/>
            </p:nvSpPr>
            <p:spPr>
              <a:xfrm>
                <a:off x="9631398" y="2628828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1BC2EEA-C6D7-A103-2FB3-BEBDC9DEC0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398" y="2628828"/>
                <a:ext cx="905164" cy="9051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4B6F1A-BF26-F242-4F19-2AEB7DD5750D}"/>
              </a:ext>
            </a:extLst>
          </p:cNvPr>
          <p:cNvCxnSpPr>
            <a:cxnSpLocks/>
            <a:stCxn id="8" idx="4"/>
            <a:endCxn id="4" idx="0"/>
          </p:cNvCxnSpPr>
          <p:nvPr/>
        </p:nvCxnSpPr>
        <p:spPr>
          <a:xfrm>
            <a:off x="10083980" y="3533992"/>
            <a:ext cx="0" cy="927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BA7F88E-8187-8E62-F899-CB38D363F10B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>
          <a:xfrm>
            <a:off x="10404004" y="5234473"/>
            <a:ext cx="849315" cy="674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03A3F8-F387-70EA-D0F3-0B348DE60EA6}"/>
              </a:ext>
            </a:extLst>
          </p:cNvPr>
          <p:cNvCxnSpPr>
            <a:cxnSpLocks/>
            <a:stCxn id="6" idx="3"/>
            <a:endCxn id="8" idx="7"/>
          </p:cNvCxnSpPr>
          <p:nvPr/>
        </p:nvCxnSpPr>
        <p:spPr>
          <a:xfrm flipH="1">
            <a:off x="10404004" y="2010712"/>
            <a:ext cx="849315" cy="750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C27A2BC-3A66-3A15-8E24-E50AC891EDD5}"/>
                  </a:ext>
                </a:extLst>
              </p:cNvPr>
              <p:cNvSpPr/>
              <p:nvPr/>
            </p:nvSpPr>
            <p:spPr>
              <a:xfrm>
                <a:off x="7560208" y="4460061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C27A2BC-3A66-3A15-8E24-E50AC891ED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208" y="4460061"/>
                <a:ext cx="905164" cy="90516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009F29A-7027-A2FC-9164-579C5F0974C4}"/>
                  </a:ext>
                </a:extLst>
              </p:cNvPr>
              <p:cNvSpPr/>
              <p:nvPr/>
            </p:nvSpPr>
            <p:spPr>
              <a:xfrm>
                <a:off x="6096000" y="5776046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009F29A-7027-A2FC-9164-579C5F0974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776046"/>
                <a:ext cx="905164" cy="905164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71B765C-35D9-2405-2F13-F6686D3F18B5}"/>
                  </a:ext>
                </a:extLst>
              </p:cNvPr>
              <p:cNvSpPr/>
              <p:nvPr/>
            </p:nvSpPr>
            <p:spPr>
              <a:xfrm>
                <a:off x="6096000" y="1238106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71B765C-35D9-2405-2F13-F6686D3F18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38106"/>
                <a:ext cx="905164" cy="905164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5BFC52-81DA-B7AC-1B3B-A076E68EEA22}"/>
              </a:ext>
            </a:extLst>
          </p:cNvPr>
          <p:cNvCxnSpPr>
            <a:cxnSpLocks/>
            <a:stCxn id="18" idx="4"/>
            <a:endCxn id="17" idx="0"/>
          </p:cNvCxnSpPr>
          <p:nvPr/>
        </p:nvCxnSpPr>
        <p:spPr>
          <a:xfrm>
            <a:off x="6548582" y="2143270"/>
            <a:ext cx="0" cy="3632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C40853B-B5BF-FF39-B6B8-D4B8EC8F887E}"/>
                  </a:ext>
                </a:extLst>
              </p:cNvPr>
              <p:cNvSpPr/>
              <p:nvPr/>
            </p:nvSpPr>
            <p:spPr>
              <a:xfrm>
                <a:off x="7566385" y="2628828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C40853B-B5BF-FF39-B6B8-D4B8EC8F88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385" y="2628828"/>
                <a:ext cx="905164" cy="905164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47564B9-0EC0-876C-C97C-5757D95C3699}"/>
              </a:ext>
            </a:extLst>
          </p:cNvPr>
          <p:cNvCxnSpPr>
            <a:cxnSpLocks/>
            <a:stCxn id="20" idx="4"/>
            <a:endCxn id="16" idx="0"/>
          </p:cNvCxnSpPr>
          <p:nvPr/>
        </p:nvCxnSpPr>
        <p:spPr>
          <a:xfrm flipH="1">
            <a:off x="8012790" y="3533992"/>
            <a:ext cx="6177" cy="926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A449DE-DFBE-9770-665D-9A46E985263D}"/>
              </a:ext>
            </a:extLst>
          </p:cNvPr>
          <p:cNvCxnSpPr>
            <a:cxnSpLocks/>
            <a:stCxn id="16" idx="3"/>
            <a:endCxn id="17" idx="7"/>
          </p:cNvCxnSpPr>
          <p:nvPr/>
        </p:nvCxnSpPr>
        <p:spPr>
          <a:xfrm flipH="1">
            <a:off x="6868606" y="5232667"/>
            <a:ext cx="824160" cy="675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2120192-4FF4-E7B9-E415-24CEC10C48BB}"/>
              </a:ext>
            </a:extLst>
          </p:cNvPr>
          <p:cNvCxnSpPr>
            <a:cxnSpLocks/>
            <a:stCxn id="18" idx="5"/>
            <a:endCxn id="20" idx="1"/>
          </p:cNvCxnSpPr>
          <p:nvPr/>
        </p:nvCxnSpPr>
        <p:spPr>
          <a:xfrm>
            <a:off x="6868606" y="2010712"/>
            <a:ext cx="830337" cy="750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EC18EC8-F40F-1815-CC8C-B5E625BB1272}"/>
                  </a:ext>
                </a:extLst>
              </p:cNvPr>
              <p:cNvSpPr/>
              <p:nvPr/>
            </p:nvSpPr>
            <p:spPr>
              <a:xfrm>
                <a:off x="7560208" y="5776046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EC18EC8-F40F-1815-CC8C-B5E625BB12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208" y="5776046"/>
                <a:ext cx="905164" cy="905164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BC77AE9-E311-0390-F07F-41B85CEA2363}"/>
              </a:ext>
            </a:extLst>
          </p:cNvPr>
          <p:cNvCxnSpPr>
            <a:cxnSpLocks/>
            <a:stCxn id="16" idx="4"/>
            <a:endCxn id="32" idx="0"/>
          </p:cNvCxnSpPr>
          <p:nvPr/>
        </p:nvCxnSpPr>
        <p:spPr>
          <a:xfrm>
            <a:off x="8012790" y="5365225"/>
            <a:ext cx="0" cy="410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308A3C5-1840-30AD-58D2-1CBCD9436609}"/>
              </a:ext>
            </a:extLst>
          </p:cNvPr>
          <p:cNvCxnSpPr>
            <a:cxnSpLocks/>
            <a:stCxn id="17" idx="6"/>
            <a:endCxn id="32" idx="2"/>
          </p:cNvCxnSpPr>
          <p:nvPr/>
        </p:nvCxnSpPr>
        <p:spPr>
          <a:xfrm>
            <a:off x="7001164" y="6228628"/>
            <a:ext cx="5590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C37D972-7638-038B-C6E6-EC104FB3B64C}"/>
                  </a:ext>
                </a:extLst>
              </p:cNvPr>
              <p:cNvSpPr/>
              <p:nvPr/>
            </p:nvSpPr>
            <p:spPr>
              <a:xfrm>
                <a:off x="9631397" y="5776046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C37D972-7638-038B-C6E6-EC104FB3B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397" y="5776046"/>
                <a:ext cx="905164" cy="905164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B87C3E9-5306-A05E-2AAB-C36DA4E5D63B}"/>
              </a:ext>
            </a:extLst>
          </p:cNvPr>
          <p:cNvCxnSpPr>
            <a:cxnSpLocks/>
            <a:stCxn id="4" idx="4"/>
            <a:endCxn id="41" idx="0"/>
          </p:cNvCxnSpPr>
          <p:nvPr/>
        </p:nvCxnSpPr>
        <p:spPr>
          <a:xfrm flipH="1">
            <a:off x="10083979" y="5367031"/>
            <a:ext cx="1" cy="409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421A9A9-0F95-04B9-482D-376A9C0390D7}"/>
              </a:ext>
            </a:extLst>
          </p:cNvPr>
          <p:cNvCxnSpPr>
            <a:cxnSpLocks/>
            <a:stCxn id="5" idx="2"/>
            <a:endCxn id="41" idx="6"/>
          </p:cNvCxnSpPr>
          <p:nvPr/>
        </p:nvCxnSpPr>
        <p:spPr>
          <a:xfrm flipH="1">
            <a:off x="10536561" y="6228628"/>
            <a:ext cx="584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2364AD9-4CA5-F5FD-7810-E2D27818CE13}"/>
              </a:ext>
            </a:extLst>
          </p:cNvPr>
          <p:cNvCxnSpPr>
            <a:cxnSpLocks/>
            <a:stCxn id="20" idx="6"/>
            <a:endCxn id="4" idx="2"/>
          </p:cNvCxnSpPr>
          <p:nvPr/>
        </p:nvCxnSpPr>
        <p:spPr>
          <a:xfrm>
            <a:off x="8471549" y="3081410"/>
            <a:ext cx="1159849" cy="183303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8AC8490-B616-36DC-1B48-F1733B221FF0}"/>
              </a:ext>
            </a:extLst>
          </p:cNvPr>
          <p:cNvCxnSpPr>
            <a:cxnSpLocks/>
            <a:stCxn id="16" idx="6"/>
            <a:endCxn id="4" idx="2"/>
          </p:cNvCxnSpPr>
          <p:nvPr/>
        </p:nvCxnSpPr>
        <p:spPr>
          <a:xfrm>
            <a:off x="8465372" y="4912643"/>
            <a:ext cx="1166026" cy="1806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82A3A02-84B4-55A4-D8AE-56F80DDFAFF1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7001164" y="1690688"/>
            <a:ext cx="4119597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4B9A43C-6938-150A-6DC8-7E63EACBDC1F}"/>
              </a:ext>
            </a:extLst>
          </p:cNvPr>
          <p:cNvCxnSpPr>
            <a:cxnSpLocks/>
            <a:stCxn id="20" idx="6"/>
            <a:endCxn id="6" idx="2"/>
          </p:cNvCxnSpPr>
          <p:nvPr/>
        </p:nvCxnSpPr>
        <p:spPr>
          <a:xfrm flipV="1">
            <a:off x="8471549" y="1690688"/>
            <a:ext cx="2649212" cy="1390722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Content Placeholder 2">
            <a:extLst>
              <a:ext uri="{FF2B5EF4-FFF2-40B4-BE49-F238E27FC236}">
                <a16:creationId xmlns:a16="http://schemas.microsoft.com/office/drawing/2014/main" id="{6346F017-FA00-840F-F680-508AC4A93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125237" cy="4351338"/>
          </a:xfrm>
        </p:spPr>
        <p:txBody>
          <a:bodyPr>
            <a:normAutofit/>
          </a:bodyPr>
          <a:lstStyle/>
          <a:p>
            <a:r>
              <a:rPr lang="en-US" dirty="0"/>
              <a:t>Next battery charge depends on previous charge + task mode</a:t>
            </a:r>
          </a:p>
          <a:p>
            <a:r>
              <a:rPr lang="en-US" dirty="0"/>
              <a:t>Next location depends on previous location + task mode</a:t>
            </a:r>
          </a:p>
          <a:p>
            <a:r>
              <a:rPr lang="en-US" dirty="0"/>
              <a:t>Current task mode depends only on current battery charge</a:t>
            </a:r>
          </a:p>
          <a:p>
            <a:r>
              <a:rPr lang="en-US" dirty="0"/>
              <a:t>Observation depends on current location and sensor status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713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DD304-3DD7-F653-687C-72CBF886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5D3B8-3DDC-8E9A-57B1-D479F9F8A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DBN: Example HMM vs DBN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71D58CB-4F72-215C-B542-9D5A85619549}"/>
                  </a:ext>
                </a:extLst>
              </p:cNvPr>
              <p:cNvSpPr/>
              <p:nvPr/>
            </p:nvSpPr>
            <p:spPr>
              <a:xfrm>
                <a:off x="9631398" y="4461867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71D58CB-4F72-215C-B542-9D5A856195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398" y="4461867"/>
                <a:ext cx="905164" cy="9051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E6B762F-DB3C-AD25-97FB-ADF9040F773D}"/>
                  </a:ext>
                </a:extLst>
              </p:cNvPr>
              <p:cNvSpPr/>
              <p:nvPr/>
            </p:nvSpPr>
            <p:spPr>
              <a:xfrm>
                <a:off x="11120761" y="5776046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E6B762F-DB3C-AD25-97FB-ADF9040F77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0761" y="5776046"/>
                <a:ext cx="905164" cy="9051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08E80FA-A3CB-32D6-2032-1714C4C0ED8C}"/>
                  </a:ext>
                </a:extLst>
              </p:cNvPr>
              <p:cNvSpPr/>
              <p:nvPr/>
            </p:nvSpPr>
            <p:spPr>
              <a:xfrm>
                <a:off x="11120761" y="1238106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08E80FA-A3CB-32D6-2032-1714C4C0ED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0761" y="1238106"/>
                <a:ext cx="905164" cy="9051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B6F00B-559E-3795-6C12-91CD71D4F0C0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>
            <a:off x="11573343" y="2143270"/>
            <a:ext cx="0" cy="3632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648D8AF-65B6-698A-FCFF-61E8CD89C784}"/>
                  </a:ext>
                </a:extLst>
              </p:cNvPr>
              <p:cNvSpPr/>
              <p:nvPr/>
            </p:nvSpPr>
            <p:spPr>
              <a:xfrm>
                <a:off x="9631398" y="2628828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648D8AF-65B6-698A-FCFF-61E8CD89C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398" y="2628828"/>
                <a:ext cx="905164" cy="9051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6EFBAA-E8F3-C6AB-A291-A28D7CC14EC9}"/>
              </a:ext>
            </a:extLst>
          </p:cNvPr>
          <p:cNvCxnSpPr>
            <a:cxnSpLocks/>
            <a:stCxn id="8" idx="4"/>
            <a:endCxn id="4" idx="0"/>
          </p:cNvCxnSpPr>
          <p:nvPr/>
        </p:nvCxnSpPr>
        <p:spPr>
          <a:xfrm>
            <a:off x="10083980" y="3533992"/>
            <a:ext cx="0" cy="927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FA065F-2D3E-A58C-257B-437A00C65BB0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>
          <a:xfrm>
            <a:off x="10404004" y="5234473"/>
            <a:ext cx="849315" cy="674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F483AE-BDC6-7D00-C14C-D9EE871B82CB}"/>
              </a:ext>
            </a:extLst>
          </p:cNvPr>
          <p:cNvCxnSpPr>
            <a:cxnSpLocks/>
            <a:stCxn id="6" idx="3"/>
            <a:endCxn id="8" idx="7"/>
          </p:cNvCxnSpPr>
          <p:nvPr/>
        </p:nvCxnSpPr>
        <p:spPr>
          <a:xfrm flipH="1">
            <a:off x="10404004" y="2010712"/>
            <a:ext cx="849315" cy="750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8E4D572-01C2-7D76-13D4-5DA72070D7C4}"/>
                  </a:ext>
                </a:extLst>
              </p:cNvPr>
              <p:cNvSpPr/>
              <p:nvPr/>
            </p:nvSpPr>
            <p:spPr>
              <a:xfrm>
                <a:off x="7560208" y="4460061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8E4D572-01C2-7D76-13D4-5DA72070D7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208" y="4460061"/>
                <a:ext cx="905164" cy="90516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F9B842D-4266-0460-EEBB-986E10A83C3D}"/>
                  </a:ext>
                </a:extLst>
              </p:cNvPr>
              <p:cNvSpPr/>
              <p:nvPr/>
            </p:nvSpPr>
            <p:spPr>
              <a:xfrm>
                <a:off x="6096000" y="5776046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F9B842D-4266-0460-EEBB-986E10A83C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776046"/>
                <a:ext cx="905164" cy="905164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E89E0EE-FF42-A15A-3CBE-A79A856CCDA7}"/>
                  </a:ext>
                </a:extLst>
              </p:cNvPr>
              <p:cNvSpPr/>
              <p:nvPr/>
            </p:nvSpPr>
            <p:spPr>
              <a:xfrm>
                <a:off x="6096000" y="1238106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E89E0EE-FF42-A15A-3CBE-A79A856CCD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38106"/>
                <a:ext cx="905164" cy="905164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058E6B-04A5-1EB7-4F3F-BFEDD781BF22}"/>
              </a:ext>
            </a:extLst>
          </p:cNvPr>
          <p:cNvCxnSpPr>
            <a:cxnSpLocks/>
            <a:stCxn id="18" idx="4"/>
            <a:endCxn id="17" idx="0"/>
          </p:cNvCxnSpPr>
          <p:nvPr/>
        </p:nvCxnSpPr>
        <p:spPr>
          <a:xfrm>
            <a:off x="6548582" y="2143270"/>
            <a:ext cx="0" cy="3632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B43AEE3-741A-0F3F-91C3-3C1D92D599C7}"/>
                  </a:ext>
                </a:extLst>
              </p:cNvPr>
              <p:cNvSpPr/>
              <p:nvPr/>
            </p:nvSpPr>
            <p:spPr>
              <a:xfrm>
                <a:off x="7566385" y="2628828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B43AEE3-741A-0F3F-91C3-3C1D92D59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385" y="2628828"/>
                <a:ext cx="905164" cy="905164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04B8CCF-5538-5F30-78C3-D570879F9984}"/>
              </a:ext>
            </a:extLst>
          </p:cNvPr>
          <p:cNvCxnSpPr>
            <a:cxnSpLocks/>
            <a:stCxn id="20" idx="4"/>
            <a:endCxn id="16" idx="0"/>
          </p:cNvCxnSpPr>
          <p:nvPr/>
        </p:nvCxnSpPr>
        <p:spPr>
          <a:xfrm flipH="1">
            <a:off x="8012790" y="3533992"/>
            <a:ext cx="6177" cy="926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A44B4B1-2DF9-19EC-26A7-E2A71BF60C94}"/>
              </a:ext>
            </a:extLst>
          </p:cNvPr>
          <p:cNvCxnSpPr>
            <a:cxnSpLocks/>
            <a:stCxn id="16" idx="3"/>
            <a:endCxn id="17" idx="7"/>
          </p:cNvCxnSpPr>
          <p:nvPr/>
        </p:nvCxnSpPr>
        <p:spPr>
          <a:xfrm flipH="1">
            <a:off x="6868606" y="5232667"/>
            <a:ext cx="824160" cy="675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9F3A64F-ABD9-8401-7874-519AA0515240}"/>
              </a:ext>
            </a:extLst>
          </p:cNvPr>
          <p:cNvCxnSpPr>
            <a:cxnSpLocks/>
            <a:stCxn id="18" idx="5"/>
            <a:endCxn id="20" idx="1"/>
          </p:cNvCxnSpPr>
          <p:nvPr/>
        </p:nvCxnSpPr>
        <p:spPr>
          <a:xfrm>
            <a:off x="6868606" y="2010712"/>
            <a:ext cx="830337" cy="750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B0933C5-DE38-6AF0-7C1A-2960B73035BF}"/>
                  </a:ext>
                </a:extLst>
              </p:cNvPr>
              <p:cNvSpPr/>
              <p:nvPr/>
            </p:nvSpPr>
            <p:spPr>
              <a:xfrm>
                <a:off x="7560208" y="5776046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B0933C5-DE38-6AF0-7C1A-2960B7303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208" y="5776046"/>
                <a:ext cx="905164" cy="905164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3B3A0EE-E184-0FB2-8ADE-2EED76C8A3EE}"/>
              </a:ext>
            </a:extLst>
          </p:cNvPr>
          <p:cNvCxnSpPr>
            <a:cxnSpLocks/>
            <a:stCxn id="16" idx="4"/>
            <a:endCxn id="32" idx="0"/>
          </p:cNvCxnSpPr>
          <p:nvPr/>
        </p:nvCxnSpPr>
        <p:spPr>
          <a:xfrm>
            <a:off x="8012790" y="5365225"/>
            <a:ext cx="0" cy="410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EF2581F-EFD6-3267-63D7-748555CBB1D9}"/>
              </a:ext>
            </a:extLst>
          </p:cNvPr>
          <p:cNvCxnSpPr>
            <a:cxnSpLocks/>
            <a:stCxn id="17" idx="6"/>
            <a:endCxn id="32" idx="2"/>
          </p:cNvCxnSpPr>
          <p:nvPr/>
        </p:nvCxnSpPr>
        <p:spPr>
          <a:xfrm>
            <a:off x="7001164" y="6228628"/>
            <a:ext cx="5590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66A9E04A-A02E-B5EF-505D-6D974E7ECDE4}"/>
                  </a:ext>
                </a:extLst>
              </p:cNvPr>
              <p:cNvSpPr/>
              <p:nvPr/>
            </p:nvSpPr>
            <p:spPr>
              <a:xfrm>
                <a:off x="9631397" y="5776046"/>
                <a:ext cx="905164" cy="905164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66A9E04A-A02E-B5EF-505D-6D974E7ECD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397" y="5776046"/>
                <a:ext cx="905164" cy="905164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1091795-0044-F826-DB09-3831CFABDA79}"/>
              </a:ext>
            </a:extLst>
          </p:cNvPr>
          <p:cNvCxnSpPr>
            <a:cxnSpLocks/>
            <a:stCxn id="4" idx="4"/>
            <a:endCxn id="41" idx="0"/>
          </p:cNvCxnSpPr>
          <p:nvPr/>
        </p:nvCxnSpPr>
        <p:spPr>
          <a:xfrm flipH="1">
            <a:off x="10083979" y="5367031"/>
            <a:ext cx="1" cy="409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31D10F-4683-E521-A2F1-1E96821A2658}"/>
              </a:ext>
            </a:extLst>
          </p:cNvPr>
          <p:cNvCxnSpPr>
            <a:cxnSpLocks/>
            <a:stCxn id="5" idx="2"/>
            <a:endCxn id="41" idx="6"/>
          </p:cNvCxnSpPr>
          <p:nvPr/>
        </p:nvCxnSpPr>
        <p:spPr>
          <a:xfrm flipH="1">
            <a:off x="10536561" y="6228628"/>
            <a:ext cx="584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6BE7916-2BB1-8FFB-0270-EB754574CB0B}"/>
              </a:ext>
            </a:extLst>
          </p:cNvPr>
          <p:cNvCxnSpPr>
            <a:cxnSpLocks/>
            <a:stCxn id="20" idx="6"/>
            <a:endCxn id="4" idx="2"/>
          </p:cNvCxnSpPr>
          <p:nvPr/>
        </p:nvCxnSpPr>
        <p:spPr>
          <a:xfrm>
            <a:off x="8471549" y="3081410"/>
            <a:ext cx="1159849" cy="183303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9D97744-4A07-AC45-0D79-1F693A296054}"/>
              </a:ext>
            </a:extLst>
          </p:cNvPr>
          <p:cNvCxnSpPr>
            <a:cxnSpLocks/>
            <a:stCxn id="16" idx="6"/>
            <a:endCxn id="4" idx="2"/>
          </p:cNvCxnSpPr>
          <p:nvPr/>
        </p:nvCxnSpPr>
        <p:spPr>
          <a:xfrm>
            <a:off x="8465372" y="4912643"/>
            <a:ext cx="1166026" cy="1806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822301B-3638-4B20-C5DE-A4153375E96C}"/>
              </a:ext>
            </a:extLst>
          </p:cNvPr>
          <p:cNvCxnSpPr>
            <a:cxnSpLocks/>
            <a:stCxn id="18" idx="6"/>
            <a:endCxn id="6" idx="2"/>
          </p:cNvCxnSpPr>
          <p:nvPr/>
        </p:nvCxnSpPr>
        <p:spPr>
          <a:xfrm>
            <a:off x="7001164" y="1690688"/>
            <a:ext cx="4119597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0B22A3F-E090-0FEF-CCEA-06812BC4FDED}"/>
              </a:ext>
            </a:extLst>
          </p:cNvPr>
          <p:cNvCxnSpPr>
            <a:cxnSpLocks/>
            <a:stCxn id="20" idx="6"/>
            <a:endCxn id="6" idx="2"/>
          </p:cNvCxnSpPr>
          <p:nvPr/>
        </p:nvCxnSpPr>
        <p:spPr>
          <a:xfrm flipV="1">
            <a:off x="8471549" y="1690688"/>
            <a:ext cx="2649212" cy="1390722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ontent Placeholder 2">
                <a:extLst>
                  <a:ext uri="{FF2B5EF4-FFF2-40B4-BE49-F238E27FC236}">
                    <a16:creationId xmlns:a16="http://schemas.microsoft.com/office/drawing/2014/main" id="{592AFD53-7834-8C15-B54D-CF92412A01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5125237" cy="435133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We have 3 battery levels, 3 locations, 2 task modes, and 2 sensor statuses.</a:t>
                </a:r>
              </a:p>
              <a:p>
                <a:r>
                  <a:rPr lang="en-US" dirty="0"/>
                  <a:t>If we represent the problem as a flat HMM:</a:t>
                </a:r>
              </a:p>
              <a:p>
                <a:pPr lvl="1"/>
                <a:r>
                  <a:rPr lang="en-US" dirty="0"/>
                  <a:t>There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∙3∙2∙2=36</m:t>
                    </m:r>
                  </m:oMath>
                </a14:m>
                <a:r>
                  <a:rPr lang="en-US" dirty="0"/>
                  <a:t> states</a:t>
                </a:r>
              </a:p>
              <a:p>
                <a:pPr lvl="1"/>
                <a:r>
                  <a:rPr lang="en-US" dirty="0"/>
                  <a:t>Transition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L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×36</m:t>
                        </m:r>
                      </m:sub>
                    </m:sSub>
                  </m:oMath>
                </a14:m>
                <a:r>
                  <a:rPr lang="en-US" dirty="0"/>
                  <a:t> requires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=1296</m:t>
                    </m:r>
                  </m:oMath>
                </a14:m>
                <a:r>
                  <a:rPr lang="en-US" dirty="0"/>
                  <a:t> parameters representation.</a:t>
                </a:r>
              </a:p>
              <a:p>
                <a:r>
                  <a:rPr lang="en-US" dirty="0"/>
                  <a:t>If we represent the problem as a DBN: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L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</m:t>
                        </m:r>
                      </m:sub>
                    </m:sSub>
                    <m:r>
                      <a:rPr lang="en-IL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lang="en-US" dirty="0"/>
                  <a:t> parameters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IL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</m:t>
                        </m:r>
                      </m:sub>
                    </m:sSub>
                    <m:r>
                      <a:rPr lang="en-IL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lang="en-US" dirty="0"/>
                  <a:t> parameters</a:t>
                </a:r>
              </a:p>
              <a:p>
                <a:pPr lvl="1"/>
                <a:r>
                  <a:rPr lang="en-US" dirty="0"/>
                  <a:t>we only need 36 parameters to represent the transitions</a:t>
                </a:r>
              </a:p>
              <a:p>
                <a:r>
                  <a:rPr lang="en-US" dirty="0"/>
                  <a:t>DBN transition representation is 36 times smaller!</a:t>
                </a:r>
              </a:p>
            </p:txBody>
          </p:sp>
        </mc:Choice>
        <mc:Fallback xmlns="">
          <p:sp>
            <p:nvSpPr>
              <p:cNvPr id="78" name="Content Placeholder 2">
                <a:extLst>
                  <a:ext uri="{FF2B5EF4-FFF2-40B4-BE49-F238E27FC236}">
                    <a16:creationId xmlns:a16="http://schemas.microsoft.com/office/drawing/2014/main" id="{592AFD53-7834-8C15-B54D-CF92412A0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5125237" cy="4351338"/>
              </a:xfrm>
              <a:blipFill>
                <a:blip r:embed="rId12"/>
                <a:stretch>
                  <a:fillRect l="-1235" t="-2616" r="-148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6790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78A65-C588-9D80-7E74-1E0190BB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Summary?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03F1A-446C-9FAD-80C4-922047381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L" dirty="0"/>
              <a:t>We learned about three stochstic Markov processes</a:t>
            </a:r>
          </a:p>
          <a:p>
            <a:pPr lvl="1"/>
            <a:r>
              <a:rPr lang="en-IL" dirty="0"/>
              <a:t>Markov chain</a:t>
            </a:r>
          </a:p>
          <a:p>
            <a:pPr lvl="1"/>
            <a:r>
              <a:rPr lang="en-IL" dirty="0"/>
              <a:t>HMM</a:t>
            </a:r>
          </a:p>
          <a:p>
            <a:pPr lvl="1"/>
            <a:r>
              <a:rPr lang="en-IL" dirty="0"/>
              <a:t>DBN</a:t>
            </a:r>
          </a:p>
          <a:p>
            <a:r>
              <a:rPr lang="en-IL" dirty="0"/>
              <a:t>We saw that Markov chains converge to stable state distributions.</a:t>
            </a:r>
          </a:p>
          <a:p>
            <a:r>
              <a:rPr lang="en-IL" dirty="0"/>
              <a:t>We showed how to track belief when the true state is hidden.</a:t>
            </a:r>
          </a:p>
          <a:p>
            <a:r>
              <a:rPr lang="en-IL" dirty="0"/>
              <a:t>We showed the benefit of factorizing </a:t>
            </a:r>
            <a:r>
              <a:rPr lang="en-US" dirty="0"/>
              <a:t>stochastic processes via Bayesian networks and how it reduces the model complexity.</a:t>
            </a:r>
          </a:p>
          <a:p>
            <a:r>
              <a:rPr lang="en-IL" dirty="0"/>
              <a:t>But these models </a:t>
            </a:r>
            <a:r>
              <a:rPr lang="en-IL" b="1" dirty="0"/>
              <a:t>do not allow us to take action</a:t>
            </a:r>
            <a:r>
              <a:rPr lang="en-IL" dirty="0"/>
              <a:t> and control the outcome of the system.</a:t>
            </a:r>
            <a:r>
              <a:rPr lang="en-US" dirty="0"/>
              <a:t> From now on, we will focus on </a:t>
            </a:r>
            <a:r>
              <a:rPr lang="en-US"/>
              <a:t>decision processes.</a:t>
            </a:r>
            <a:endParaRPr lang="en-IL" dirty="0"/>
          </a:p>
          <a:p>
            <a:pPr lvl="1"/>
            <a:r>
              <a:rPr lang="en-IL" dirty="0"/>
              <a:t>Markov decision process (MDP) adds control to a Markov chains.</a:t>
            </a:r>
          </a:p>
          <a:p>
            <a:pPr lvl="1"/>
            <a:r>
              <a:rPr lang="en-IL" dirty="0"/>
              <a:t>Partially observable MDP (POMDP) adds control to HMMs.</a:t>
            </a:r>
          </a:p>
          <a:p>
            <a:pPr lvl="1"/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360998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1757</TotalTime>
  <Words>1505</Words>
  <Application>Microsoft Macintosh PowerPoint</Application>
  <PresentationFormat>Widescreen</PresentationFormat>
  <Paragraphs>272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Cambria Math</vt:lpstr>
      <vt:lpstr>Office Theme</vt:lpstr>
      <vt:lpstr>Tutorial 02 – Markov Models</vt:lpstr>
      <vt:lpstr>Map of Models</vt:lpstr>
      <vt:lpstr>Today</vt:lpstr>
      <vt:lpstr>The Markov Assumption</vt:lpstr>
      <vt:lpstr>Running Example: Office Delivery Robot</vt:lpstr>
      <vt:lpstr>Markov Chains: Definition</vt:lpstr>
      <vt:lpstr>Markov Chains: Distribution Propagation</vt:lpstr>
      <vt:lpstr>Markov Chains: Stationary Distributions</vt:lpstr>
      <vt:lpstr>Markov Chains: Example</vt:lpstr>
      <vt:lpstr>HMM: Definition</vt:lpstr>
      <vt:lpstr>HMM: Inference Tasks</vt:lpstr>
      <vt:lpstr>HMM: Belief Filtering</vt:lpstr>
      <vt:lpstr>HMM: Example</vt:lpstr>
      <vt:lpstr>HMM: Example (cont.)</vt:lpstr>
      <vt:lpstr>Bayesian Networks: Definition</vt:lpstr>
      <vt:lpstr>Bayesian Networks: Example</vt:lpstr>
      <vt:lpstr>Bayesian Networks: Example (cont.)</vt:lpstr>
      <vt:lpstr>Bayesian Networks: Example (cont.)</vt:lpstr>
      <vt:lpstr>DBN: Definition</vt:lpstr>
      <vt:lpstr>DBN: Example 2-TBN</vt:lpstr>
      <vt:lpstr>DBN: Example HMM vs DBN</vt:lpstr>
      <vt:lpstr>Summary?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Azran</dc:creator>
  <cp:lastModifiedBy>Guy Azran</cp:lastModifiedBy>
  <cp:revision>76</cp:revision>
  <dcterms:created xsi:type="dcterms:W3CDTF">2026-05-11T07:08:25Z</dcterms:created>
  <dcterms:modified xsi:type="dcterms:W3CDTF">2026-05-13T09:54:00Z</dcterms:modified>
</cp:coreProperties>
</file>